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10692000" cx="7560000"/>
  <p:notesSz cx="6858000" cy="9144000"/>
  <p:embeddedFontLst>
    <p:embeddedFont>
      <p:font typeface="Faustina"/>
      <p:regular r:id="rId22"/>
      <p:bold r:id="rId23"/>
      <p:italic r:id="rId24"/>
      <p:boldItalic r:id="rId25"/>
    </p:embeddedFont>
    <p:embeddedFont>
      <p:font typeface="Inter Light"/>
      <p:regular r:id="rId26"/>
      <p:bold r:id="rId27"/>
      <p:italic r:id="rId28"/>
      <p:boldItalic r:id="rId29"/>
    </p:embeddedFont>
    <p:embeddedFont>
      <p:font typeface="Roboto"/>
      <p:regular r:id="rId30"/>
      <p:bold r:id="rId31"/>
      <p:italic r:id="rId32"/>
      <p:boldItalic r:id="rId33"/>
    </p:embeddedFont>
    <p:embeddedFont>
      <p:font typeface="Inter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368">
          <p15:clr>
            <a:srgbClr val="A4A3A4"/>
          </p15:clr>
        </p15:guide>
        <p15:guide id="2" pos="238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368" orient="horz"/>
        <p:guide pos="2381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Faustina-regular.fntdata"/><Relationship Id="rId21" Type="http://schemas.openxmlformats.org/officeDocument/2006/relationships/slide" Target="slides/slide16.xml"/><Relationship Id="rId24" Type="http://schemas.openxmlformats.org/officeDocument/2006/relationships/font" Target="fonts/Faustina-italic.fntdata"/><Relationship Id="rId23" Type="http://schemas.openxmlformats.org/officeDocument/2006/relationships/font" Target="fonts/Faustina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InterLight-regular.fntdata"/><Relationship Id="rId25" Type="http://schemas.openxmlformats.org/officeDocument/2006/relationships/font" Target="fonts/Faustina-boldItalic.fntdata"/><Relationship Id="rId28" Type="http://schemas.openxmlformats.org/officeDocument/2006/relationships/font" Target="fonts/InterLight-italic.fntdata"/><Relationship Id="rId27" Type="http://schemas.openxmlformats.org/officeDocument/2006/relationships/font" Target="fonts/InterLight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InterLight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-bold.fntdata"/><Relationship Id="rId30" Type="http://schemas.openxmlformats.org/officeDocument/2006/relationships/font" Target="fonts/Roboto-regular.fntdata"/><Relationship Id="rId11" Type="http://schemas.openxmlformats.org/officeDocument/2006/relationships/slide" Target="slides/slide6.xml"/><Relationship Id="rId33" Type="http://schemas.openxmlformats.org/officeDocument/2006/relationships/font" Target="fonts/Roboto-boldItalic.fntdata"/><Relationship Id="rId10" Type="http://schemas.openxmlformats.org/officeDocument/2006/relationships/slide" Target="slides/slide5.xml"/><Relationship Id="rId32" Type="http://schemas.openxmlformats.org/officeDocument/2006/relationships/font" Target="fonts/Roboto-italic.fntdata"/><Relationship Id="rId13" Type="http://schemas.openxmlformats.org/officeDocument/2006/relationships/slide" Target="slides/slide8.xml"/><Relationship Id="rId35" Type="http://schemas.openxmlformats.org/officeDocument/2006/relationships/font" Target="fonts/Inter-bold.fntdata"/><Relationship Id="rId12" Type="http://schemas.openxmlformats.org/officeDocument/2006/relationships/slide" Target="slides/slide7.xml"/><Relationship Id="rId34" Type="http://schemas.openxmlformats.org/officeDocument/2006/relationships/font" Target="fonts/Inter-regular.fntdata"/><Relationship Id="rId15" Type="http://schemas.openxmlformats.org/officeDocument/2006/relationships/slide" Target="slides/slide10.xml"/><Relationship Id="rId37" Type="http://schemas.openxmlformats.org/officeDocument/2006/relationships/font" Target="fonts/Inter-boldItalic.fntdata"/><Relationship Id="rId14" Type="http://schemas.openxmlformats.org/officeDocument/2006/relationships/slide" Target="slides/slide9.xml"/><Relationship Id="rId36" Type="http://schemas.openxmlformats.org/officeDocument/2006/relationships/font" Target="fonts/Inter-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25ddc7843d4_0_48:notes"/>
          <p:cNvSpPr/>
          <p:nvPr>
            <p:ph idx="2" type="sldImg"/>
          </p:nvPr>
        </p:nvSpPr>
        <p:spPr>
          <a:xfrm>
            <a:off x="2217027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" name="Google Shape;55;g25ddc7843d4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d60f7cc524_0_2:notes"/>
          <p:cNvSpPr/>
          <p:nvPr>
            <p:ph idx="2" type="sldImg"/>
          </p:nvPr>
        </p:nvSpPr>
        <p:spPr>
          <a:xfrm>
            <a:off x="2217027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2d60f7cc524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d60f7cc524_0_13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2d60f7cc524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275bd3143b0_0_36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g275bd3143b0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cfdee8656c_0_1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2cfdee8656c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275bd3143b0_0_124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g275bd3143b0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2cfdee8656c_0_34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2cfdee8656c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27e68001caa_1_2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27e68001caa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7e68001caa_0_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g27e68001ca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22bb8c4182d_0_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22bb8c4182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27e68001caa_1_1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27e68001caa_1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1f3a0803cb8_1_9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1f3a0803cb8_1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1f3a0803cb8_0_12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1f3a0803cb8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1f4ee6a7023_0_2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1f4ee6a7023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1f3a0803cb8_0_6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g1f3a0803cb8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25ddc7843d4_0_0:notes"/>
          <p:cNvSpPr/>
          <p:nvPr>
            <p:ph idx="2" type="sldImg"/>
          </p:nvPr>
        </p:nvSpPr>
        <p:spPr>
          <a:xfrm>
            <a:off x="2217027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25ddc7843d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257712" y="1547778"/>
            <a:ext cx="7044600" cy="426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257705" y="5891409"/>
            <a:ext cx="7044600" cy="16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257705" y="4471058"/>
            <a:ext cx="7044600" cy="174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57705" y="2395696"/>
            <a:ext cx="3306900" cy="710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3995291" y="2395696"/>
            <a:ext cx="3306900" cy="710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257705" y="1154948"/>
            <a:ext cx="2321700" cy="157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257705" y="2888617"/>
            <a:ext cx="2321700" cy="66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05325" y="935745"/>
            <a:ext cx="5264700" cy="850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3780000" y="-260"/>
            <a:ext cx="3780000" cy="10692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19508" y="2563450"/>
            <a:ext cx="3344400" cy="308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19508" y="5826865"/>
            <a:ext cx="3344400" cy="256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083839" y="1505164"/>
            <a:ext cx="3172200" cy="768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257705" y="8794266"/>
            <a:ext cx="4959600" cy="125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257705" y="2299346"/>
            <a:ext cx="7044600" cy="408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257705" y="6552657"/>
            <a:ext cx="7044600" cy="270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1">
  <p:cSld name="TITLE_AND_BODY_1">
    <p:bg>
      <p:bgPr>
        <a:solidFill>
          <a:srgbClr val="F2F2F2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">
    <p:bg>
      <p:bgPr>
        <a:solidFill>
          <a:srgbClr val="6F12FF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4">
  <p:cSld name="TITLE_AND_BODY_4">
    <p:bg>
      <p:bgPr>
        <a:solidFill>
          <a:srgbClr val="F2F2F2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F12FF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6"/>
          <p:cNvSpPr txBox="1"/>
          <p:nvPr/>
        </p:nvSpPr>
        <p:spPr>
          <a:xfrm>
            <a:off x="551100" y="3527550"/>
            <a:ext cx="6457800" cy="24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4800">
                <a:solidFill>
                  <a:srgbClr val="F2F2F2"/>
                </a:solidFill>
                <a:latin typeface="Faustina"/>
                <a:ea typeface="Faustina"/>
                <a:cs typeface="Faustina"/>
                <a:sym typeface="Faustina"/>
              </a:rPr>
              <a:t>Manual de Cargos, Funções e Rotinas</a:t>
            </a:r>
            <a:endParaRPr b="1" sz="4800">
              <a:solidFill>
                <a:srgbClr val="F2F2F2"/>
              </a:solidFill>
              <a:latin typeface="Faustina"/>
              <a:ea typeface="Faustina"/>
              <a:cs typeface="Faustina"/>
              <a:sym typeface="Faustina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rgbClr val="F2F2F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58" name="Google Shape;58;p16"/>
          <p:cNvGrpSpPr/>
          <p:nvPr/>
        </p:nvGrpSpPr>
        <p:grpSpPr>
          <a:xfrm>
            <a:off x="3905564" y="8716761"/>
            <a:ext cx="3878257" cy="1370836"/>
            <a:chOff x="1998387" y="6125905"/>
            <a:chExt cx="4982345" cy="1882500"/>
          </a:xfrm>
        </p:grpSpPr>
        <p:sp>
          <p:nvSpPr>
            <p:cNvPr id="59" name="Google Shape;59;p16"/>
            <p:cNvSpPr/>
            <p:nvPr/>
          </p:nvSpPr>
          <p:spPr>
            <a:xfrm rot="-8100000">
              <a:off x="2271481" y="6416699"/>
              <a:ext cx="1318613" cy="1318613"/>
            </a:xfrm>
            <a:prstGeom prst="corner">
              <a:avLst>
                <a:gd fmla="val 50000" name="adj1"/>
                <a:gd fmla="val 50000" name="adj2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16"/>
            <p:cNvSpPr/>
            <p:nvPr/>
          </p:nvSpPr>
          <p:spPr>
            <a:xfrm rot="-8100000">
              <a:off x="3830246" y="6398999"/>
              <a:ext cx="1318613" cy="1318613"/>
            </a:xfrm>
            <a:prstGeom prst="corner">
              <a:avLst>
                <a:gd fmla="val 50000" name="adj1"/>
                <a:gd fmla="val 50000" name="adj2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16"/>
            <p:cNvSpPr/>
            <p:nvPr/>
          </p:nvSpPr>
          <p:spPr>
            <a:xfrm rot="-8100000">
              <a:off x="5389025" y="6398999"/>
              <a:ext cx="1318613" cy="1318613"/>
            </a:xfrm>
            <a:prstGeom prst="corner">
              <a:avLst>
                <a:gd fmla="val 50000" name="adj1"/>
                <a:gd fmla="val 50000" name="adj2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2" name="Google Shape;62;p16"/>
          <p:cNvSpPr/>
          <p:nvPr/>
        </p:nvSpPr>
        <p:spPr>
          <a:xfrm>
            <a:off x="2952150" y="5346000"/>
            <a:ext cx="1655700" cy="1596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Inter"/>
                <a:ea typeface="Inter"/>
                <a:cs typeface="Inter"/>
                <a:sym typeface="Inter"/>
              </a:rPr>
              <a:t>Adi</a:t>
            </a:r>
            <a:r>
              <a:rPr lang="pt-BR">
                <a:latin typeface="Inter"/>
                <a:ea typeface="Inter"/>
                <a:cs typeface="Inter"/>
                <a:sym typeface="Inter"/>
              </a:rPr>
              <a:t>c</a:t>
            </a:r>
            <a:r>
              <a:rPr lang="pt-BR">
                <a:latin typeface="Inter"/>
                <a:ea typeface="Inter"/>
                <a:cs typeface="Inter"/>
                <a:sym typeface="Inter"/>
              </a:rPr>
              <a:t>ione a Logo do cliente aqui</a:t>
            </a:r>
            <a:r>
              <a:rPr lang="pt-BR"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pt-BR">
                <a:latin typeface="Inter"/>
                <a:ea typeface="Inter"/>
                <a:cs typeface="Inter"/>
                <a:sym typeface="Inter"/>
              </a:rPr>
              <a:t>(apague antes de adicionar)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63" name="Google Shape;6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7100" y="9807400"/>
            <a:ext cx="1661005" cy="615576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827325" y="-973250"/>
            <a:ext cx="3174475" cy="331737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F12FF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/>
          <p:nvPr/>
        </p:nvSpPr>
        <p:spPr>
          <a:xfrm>
            <a:off x="150500" y="4882200"/>
            <a:ext cx="5482500" cy="24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pt-BR" sz="5000">
                <a:solidFill>
                  <a:srgbClr val="F2F2F2"/>
                </a:solidFill>
                <a:latin typeface="Faustina"/>
                <a:ea typeface="Faustina"/>
                <a:cs typeface="Faustina"/>
                <a:sym typeface="Faustina"/>
              </a:rPr>
              <a:t>Manual de Cargos, Funções e Rotinas</a:t>
            </a:r>
            <a:endParaRPr b="1" i="1" sz="5000">
              <a:solidFill>
                <a:srgbClr val="F2F2F2"/>
              </a:solidFill>
              <a:latin typeface="Faustina"/>
              <a:ea typeface="Faustina"/>
              <a:cs typeface="Faustina"/>
              <a:sym typeface="Faustina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i="1" sz="5000">
              <a:solidFill>
                <a:srgbClr val="F2F2F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70" name="Google Shape;70;p17"/>
          <p:cNvGrpSpPr/>
          <p:nvPr/>
        </p:nvGrpSpPr>
        <p:grpSpPr>
          <a:xfrm>
            <a:off x="3537197" y="8715928"/>
            <a:ext cx="4881701" cy="1976060"/>
            <a:chOff x="1998387" y="6125905"/>
            <a:chExt cx="4982345" cy="1882500"/>
          </a:xfrm>
        </p:grpSpPr>
        <p:sp>
          <p:nvSpPr>
            <p:cNvPr id="71" name="Google Shape;71;p17"/>
            <p:cNvSpPr/>
            <p:nvPr/>
          </p:nvSpPr>
          <p:spPr>
            <a:xfrm rot="-8100000">
              <a:off x="2271481" y="6416699"/>
              <a:ext cx="1318613" cy="1318613"/>
            </a:xfrm>
            <a:prstGeom prst="corner">
              <a:avLst>
                <a:gd fmla="val 50000" name="adj1"/>
                <a:gd fmla="val 50000" name="adj2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7"/>
            <p:cNvSpPr/>
            <p:nvPr/>
          </p:nvSpPr>
          <p:spPr>
            <a:xfrm rot="-8100000">
              <a:off x="3830246" y="6398999"/>
              <a:ext cx="1318613" cy="1318613"/>
            </a:xfrm>
            <a:prstGeom prst="corner">
              <a:avLst>
                <a:gd fmla="val 50000" name="adj1"/>
                <a:gd fmla="val 50000" name="adj2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7"/>
            <p:cNvSpPr/>
            <p:nvPr/>
          </p:nvSpPr>
          <p:spPr>
            <a:xfrm rot="-8100000">
              <a:off x="5389025" y="6398999"/>
              <a:ext cx="1318613" cy="1318613"/>
            </a:xfrm>
            <a:prstGeom prst="corner">
              <a:avLst>
                <a:gd fmla="val 50000" name="adj1"/>
                <a:gd fmla="val 50000" name="adj2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4" name="Google Shape;74;p17"/>
          <p:cNvSpPr/>
          <p:nvPr/>
        </p:nvSpPr>
        <p:spPr>
          <a:xfrm>
            <a:off x="425675" y="6933500"/>
            <a:ext cx="1655700" cy="1596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Inter"/>
                <a:ea typeface="Inter"/>
                <a:cs typeface="Inter"/>
                <a:sym typeface="Inter"/>
              </a:rPr>
              <a:t>Adicione a Logo do cliente aqui (apague antes de adicionar)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75" name="Google Shape;7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0500" y="282400"/>
            <a:ext cx="1661005" cy="615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8"/>
          <p:cNvSpPr txBox="1"/>
          <p:nvPr/>
        </p:nvSpPr>
        <p:spPr>
          <a:xfrm>
            <a:off x="457300" y="1441200"/>
            <a:ext cx="3259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pt-BR" sz="3000">
                <a:solidFill>
                  <a:srgbClr val="6F12FF"/>
                </a:solidFill>
                <a:latin typeface="Faustina"/>
                <a:ea typeface="Faustina"/>
                <a:cs typeface="Faustina"/>
                <a:sym typeface="Faustina"/>
              </a:rPr>
              <a:t>Sumário</a:t>
            </a:r>
            <a:endParaRPr b="1" i="1" sz="3000">
              <a:solidFill>
                <a:srgbClr val="6F12FF"/>
              </a:solidFill>
              <a:latin typeface="Faustina"/>
              <a:ea typeface="Faustina"/>
              <a:cs typeface="Faustina"/>
              <a:sym typeface="Faustina"/>
            </a:endParaRPr>
          </a:p>
        </p:txBody>
      </p:sp>
      <p:sp>
        <p:nvSpPr>
          <p:cNvPr id="81" name="Google Shape;81;p18"/>
          <p:cNvSpPr txBox="1"/>
          <p:nvPr/>
        </p:nvSpPr>
        <p:spPr>
          <a:xfrm>
            <a:off x="457300" y="1926375"/>
            <a:ext cx="3259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rgbClr val="6F12FF"/>
                </a:solidFill>
                <a:latin typeface="Faustina"/>
                <a:ea typeface="Faustina"/>
                <a:cs typeface="Faustina"/>
                <a:sym typeface="Faustina"/>
              </a:rPr>
              <a:t>Manual de Cargos, Funções e Rotinas</a:t>
            </a:r>
            <a:endParaRPr sz="1500">
              <a:solidFill>
                <a:srgbClr val="6F12FF"/>
              </a:solidFill>
              <a:latin typeface="Faustina"/>
              <a:ea typeface="Faustina"/>
              <a:cs typeface="Faustina"/>
              <a:sym typeface="Faustina"/>
            </a:endParaRPr>
          </a:p>
        </p:txBody>
      </p:sp>
      <p:sp>
        <p:nvSpPr>
          <p:cNvPr id="82" name="Google Shape;82;p18"/>
          <p:cNvSpPr txBox="1"/>
          <p:nvPr/>
        </p:nvSpPr>
        <p:spPr>
          <a:xfrm>
            <a:off x="457325" y="10204000"/>
            <a:ext cx="232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600">
                <a:solidFill>
                  <a:srgbClr val="595959"/>
                </a:solidFill>
              </a:rPr>
              <a:t>‹#›</a:t>
            </a:fld>
            <a:endParaRPr sz="600">
              <a:solidFill>
                <a:srgbClr val="595959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83" name="Google Shape;83;p18"/>
          <p:cNvSpPr txBox="1"/>
          <p:nvPr/>
        </p:nvSpPr>
        <p:spPr>
          <a:xfrm>
            <a:off x="488250" y="2344450"/>
            <a:ext cx="6583500" cy="58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6F12FF"/>
              </a:buClr>
              <a:buSzPts val="2200"/>
              <a:buFont typeface="Faustina"/>
              <a:buAutoNum type="arabicPeriod"/>
            </a:pPr>
            <a:r>
              <a:rPr b="1" i="1" lang="pt-BR" sz="2200">
                <a:solidFill>
                  <a:srgbClr val="323232"/>
                </a:solidFill>
                <a:latin typeface="Faustina"/>
                <a:ea typeface="Faustina"/>
                <a:cs typeface="Faustina"/>
                <a:sym typeface="Faustina"/>
              </a:rPr>
              <a:t>Análise Macroeconômica</a:t>
            </a:r>
            <a:endParaRPr b="1" i="1" sz="2200">
              <a:solidFill>
                <a:srgbClr val="323232"/>
              </a:solidFill>
              <a:latin typeface="Faustina"/>
              <a:ea typeface="Faustina"/>
              <a:cs typeface="Faustina"/>
              <a:sym typeface="Faustina"/>
            </a:endParaRPr>
          </a:p>
          <a:p>
            <a:pPr indent="-368300" lvl="0" marL="457200" rtl="0"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6F12FF"/>
              </a:buClr>
              <a:buSzPts val="2200"/>
              <a:buFont typeface="Faustina"/>
              <a:buAutoNum type="arabicPeriod"/>
            </a:pPr>
            <a:r>
              <a:rPr b="1" i="1" lang="pt-BR" sz="2200">
                <a:solidFill>
                  <a:srgbClr val="323232"/>
                </a:solidFill>
                <a:latin typeface="Faustina"/>
                <a:ea typeface="Faustina"/>
                <a:cs typeface="Faustina"/>
                <a:sym typeface="Faustina"/>
              </a:rPr>
              <a:t>Organograma</a:t>
            </a:r>
            <a:endParaRPr b="1" i="1" sz="2200">
              <a:solidFill>
                <a:srgbClr val="323232"/>
              </a:solidFill>
              <a:latin typeface="Faustina"/>
              <a:ea typeface="Faustina"/>
              <a:cs typeface="Faustina"/>
              <a:sym typeface="Faustina"/>
            </a:endParaRPr>
          </a:p>
          <a:p>
            <a:pPr indent="-368300" lvl="0" marL="457200" rtl="0"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6F12FF"/>
              </a:buClr>
              <a:buSzPts val="2200"/>
              <a:buFont typeface="Faustina"/>
              <a:buAutoNum type="arabicPeriod"/>
            </a:pPr>
            <a:r>
              <a:rPr b="1" i="1" lang="pt-BR" sz="2200">
                <a:solidFill>
                  <a:srgbClr val="323232"/>
                </a:solidFill>
                <a:latin typeface="Faustina"/>
                <a:ea typeface="Faustina"/>
                <a:cs typeface="Faustina"/>
                <a:sym typeface="Faustina"/>
              </a:rPr>
              <a:t>Descrição de Cargos</a:t>
            </a:r>
            <a:endParaRPr b="1" i="1" sz="2200">
              <a:solidFill>
                <a:srgbClr val="323232"/>
              </a:solidFill>
              <a:latin typeface="Faustina"/>
              <a:ea typeface="Faustina"/>
              <a:cs typeface="Faustina"/>
              <a:sym typeface="Faustina"/>
            </a:endParaRPr>
          </a:p>
          <a:p>
            <a:pPr indent="457200" lvl="0" marL="0" rtl="0"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i="1" lang="pt-BR" sz="1600">
                <a:solidFill>
                  <a:srgbClr val="6F12FF"/>
                </a:solidFill>
                <a:latin typeface="Faustina"/>
                <a:ea typeface="Faustina"/>
                <a:cs typeface="Faustina"/>
                <a:sym typeface="Faustina"/>
              </a:rPr>
              <a:t>3.1</a:t>
            </a:r>
            <a:r>
              <a:rPr b="1" i="1" lang="pt-BR" sz="1600">
                <a:solidFill>
                  <a:srgbClr val="323232"/>
                </a:solidFill>
                <a:latin typeface="Faustina"/>
                <a:ea typeface="Faustina"/>
                <a:cs typeface="Faustina"/>
                <a:sym typeface="Faustina"/>
              </a:rPr>
              <a:t>   </a:t>
            </a:r>
            <a:r>
              <a:rPr i="1" lang="pt-BR" sz="1600">
                <a:solidFill>
                  <a:srgbClr val="323232"/>
                </a:solidFill>
                <a:latin typeface="Faustina"/>
                <a:ea typeface="Faustina"/>
                <a:cs typeface="Faustina"/>
                <a:sym typeface="Faustina"/>
              </a:rPr>
              <a:t>Cargo 1</a:t>
            </a:r>
            <a:endParaRPr i="1" sz="1600">
              <a:solidFill>
                <a:srgbClr val="323232"/>
              </a:solidFill>
              <a:latin typeface="Faustina"/>
              <a:ea typeface="Faustina"/>
              <a:cs typeface="Faustina"/>
              <a:sym typeface="Faustina"/>
            </a:endParaRPr>
          </a:p>
          <a:p>
            <a:pPr indent="457200" lvl="0" marL="0" rtl="0"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i="1" lang="pt-BR" sz="1600">
                <a:solidFill>
                  <a:srgbClr val="6F12FF"/>
                </a:solidFill>
                <a:latin typeface="Faustina"/>
                <a:ea typeface="Faustina"/>
                <a:cs typeface="Faustina"/>
                <a:sym typeface="Faustina"/>
              </a:rPr>
              <a:t>3</a:t>
            </a:r>
            <a:r>
              <a:rPr b="1" i="1" lang="pt-BR" sz="1600">
                <a:solidFill>
                  <a:srgbClr val="6F12FF"/>
                </a:solidFill>
                <a:latin typeface="Faustina"/>
                <a:ea typeface="Faustina"/>
                <a:cs typeface="Faustina"/>
                <a:sym typeface="Faustina"/>
              </a:rPr>
              <a:t>.2</a:t>
            </a:r>
            <a:r>
              <a:rPr b="1" i="1" lang="pt-BR" sz="1600">
                <a:solidFill>
                  <a:srgbClr val="323232"/>
                </a:solidFill>
                <a:latin typeface="Faustina"/>
                <a:ea typeface="Faustina"/>
                <a:cs typeface="Faustina"/>
                <a:sym typeface="Faustina"/>
              </a:rPr>
              <a:t>   </a:t>
            </a:r>
            <a:r>
              <a:rPr i="1" lang="pt-BR" sz="1600">
                <a:solidFill>
                  <a:srgbClr val="323232"/>
                </a:solidFill>
                <a:latin typeface="Faustina"/>
                <a:ea typeface="Faustina"/>
                <a:cs typeface="Faustina"/>
                <a:sym typeface="Faustina"/>
              </a:rPr>
              <a:t>Cargo 2</a:t>
            </a:r>
            <a:endParaRPr i="1" sz="1600">
              <a:solidFill>
                <a:srgbClr val="323232"/>
              </a:solidFill>
              <a:latin typeface="Faustina"/>
              <a:ea typeface="Faustina"/>
              <a:cs typeface="Faustina"/>
              <a:sym typeface="Faustina"/>
            </a:endParaRPr>
          </a:p>
          <a:p>
            <a:pPr indent="457200" lvl="0" marL="0" rtl="0"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i="1" lang="pt-BR" sz="1600">
                <a:solidFill>
                  <a:srgbClr val="323232"/>
                </a:solidFill>
                <a:latin typeface="Faustina"/>
                <a:ea typeface="Faustina"/>
                <a:cs typeface="Faustina"/>
                <a:sym typeface="Faustina"/>
              </a:rPr>
              <a:t>                                                                                                            </a:t>
            </a:r>
            <a:endParaRPr b="1" i="1" sz="1600">
              <a:solidFill>
                <a:srgbClr val="323232"/>
              </a:solidFill>
              <a:latin typeface="Faustina"/>
              <a:ea typeface="Faustina"/>
              <a:cs typeface="Faustina"/>
              <a:sym typeface="Faustina"/>
            </a:endParaRPr>
          </a:p>
          <a:p>
            <a:pPr indent="0" lvl="0" marL="457200" rtl="0"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i="1" sz="2200">
              <a:solidFill>
                <a:srgbClr val="323232"/>
              </a:solidFill>
              <a:latin typeface="Faustina"/>
              <a:ea typeface="Faustina"/>
              <a:cs typeface="Faustina"/>
              <a:sym typeface="Faustina"/>
            </a:endParaRPr>
          </a:p>
          <a:p>
            <a:pPr indent="0" lvl="0" marL="0" rtl="0"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i="1" sz="2200">
              <a:solidFill>
                <a:srgbClr val="323232"/>
              </a:solidFill>
              <a:latin typeface="Faustina"/>
              <a:ea typeface="Faustina"/>
              <a:cs typeface="Faustina"/>
              <a:sym typeface="Faustina"/>
            </a:endParaRPr>
          </a:p>
          <a:p>
            <a:pPr indent="0" lvl="0" marL="0" rtl="0"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i="1" sz="2200">
              <a:solidFill>
                <a:srgbClr val="323232"/>
              </a:solidFill>
              <a:latin typeface="Faustina"/>
              <a:ea typeface="Faustina"/>
              <a:cs typeface="Faustina"/>
              <a:sym typeface="Faustina"/>
            </a:endParaRPr>
          </a:p>
        </p:txBody>
      </p:sp>
      <p:sp>
        <p:nvSpPr>
          <p:cNvPr id="84" name="Google Shape;84;p18"/>
          <p:cNvSpPr txBox="1"/>
          <p:nvPr/>
        </p:nvSpPr>
        <p:spPr>
          <a:xfrm>
            <a:off x="4099075" y="2341875"/>
            <a:ext cx="2972700" cy="29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i="1" lang="pt-BR" sz="2200">
                <a:solidFill>
                  <a:srgbClr val="323232"/>
                </a:solidFill>
                <a:latin typeface="Faustina"/>
                <a:ea typeface="Faustina"/>
                <a:cs typeface="Faustina"/>
                <a:sym typeface="Faustina"/>
              </a:rPr>
              <a:t>………………….………………. pág x</a:t>
            </a:r>
            <a:endParaRPr i="1" sz="2200">
              <a:solidFill>
                <a:srgbClr val="323232"/>
              </a:solidFill>
              <a:latin typeface="Faustina"/>
              <a:ea typeface="Faustina"/>
              <a:cs typeface="Faustina"/>
              <a:sym typeface="Faustina"/>
            </a:endParaRPr>
          </a:p>
          <a:p>
            <a:pPr indent="0" lvl="0" marL="0" rtl="0" algn="ctr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pt-BR" sz="2200">
                <a:solidFill>
                  <a:srgbClr val="323232"/>
                </a:solidFill>
                <a:latin typeface="Faustina"/>
                <a:ea typeface="Faustina"/>
                <a:cs typeface="Faustina"/>
                <a:sym typeface="Faustina"/>
              </a:rPr>
              <a:t>………………….………………. pág x</a:t>
            </a:r>
            <a:endParaRPr i="1" sz="2200">
              <a:solidFill>
                <a:srgbClr val="323232"/>
              </a:solidFill>
              <a:latin typeface="Faustina"/>
              <a:ea typeface="Faustina"/>
              <a:cs typeface="Faustina"/>
              <a:sym typeface="Faustina"/>
            </a:endParaRPr>
          </a:p>
          <a:p>
            <a:pPr indent="0" lvl="0" marL="0" rtl="0" algn="ctr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pt-BR" sz="2200">
                <a:solidFill>
                  <a:srgbClr val="323232"/>
                </a:solidFill>
                <a:latin typeface="Faustina"/>
                <a:ea typeface="Faustina"/>
                <a:cs typeface="Faustina"/>
                <a:sym typeface="Faustina"/>
              </a:rPr>
              <a:t>………………….………………. pág x</a:t>
            </a:r>
            <a:endParaRPr i="1" sz="2200">
              <a:solidFill>
                <a:srgbClr val="323232"/>
              </a:solidFill>
              <a:latin typeface="Faustina"/>
              <a:ea typeface="Faustina"/>
              <a:cs typeface="Faustina"/>
              <a:sym typeface="Faustina"/>
            </a:endParaRPr>
          </a:p>
          <a:p>
            <a:pPr indent="0" lvl="0" marL="0" rtl="0" algn="r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pt-BR" sz="1600">
                <a:solidFill>
                  <a:srgbClr val="323232"/>
                </a:solidFill>
                <a:latin typeface="Faustina"/>
                <a:ea typeface="Faustina"/>
                <a:cs typeface="Faustina"/>
                <a:sym typeface="Faustina"/>
              </a:rPr>
              <a:t>………………………………….………………. pág x</a:t>
            </a:r>
            <a:endParaRPr i="1" sz="1600">
              <a:solidFill>
                <a:srgbClr val="323232"/>
              </a:solidFill>
              <a:latin typeface="Faustina"/>
              <a:ea typeface="Faustina"/>
              <a:cs typeface="Faustina"/>
              <a:sym typeface="Faustina"/>
            </a:endParaRPr>
          </a:p>
          <a:p>
            <a:pPr indent="0" lvl="0" marL="0" rtl="0" algn="r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pt-BR" sz="1600">
                <a:solidFill>
                  <a:srgbClr val="323232"/>
                </a:solidFill>
                <a:latin typeface="Faustina"/>
                <a:ea typeface="Faustina"/>
                <a:cs typeface="Faustina"/>
                <a:sym typeface="Faustina"/>
              </a:rPr>
              <a:t>………………………………….………………. pág x</a:t>
            </a:r>
            <a:endParaRPr i="1" sz="1600">
              <a:solidFill>
                <a:srgbClr val="323232"/>
              </a:solidFill>
              <a:latin typeface="Faustina"/>
              <a:ea typeface="Faustina"/>
              <a:cs typeface="Faustina"/>
              <a:sym typeface="Faustina"/>
            </a:endParaRPr>
          </a:p>
          <a:p>
            <a:pPr indent="0" lvl="0" marL="0" rtl="0" algn="r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i="1" sz="1600">
              <a:solidFill>
                <a:srgbClr val="323232"/>
              </a:solidFill>
              <a:latin typeface="Faustina"/>
              <a:ea typeface="Faustina"/>
              <a:cs typeface="Faustina"/>
              <a:sym typeface="Faustina"/>
            </a:endParaRPr>
          </a:p>
        </p:txBody>
      </p:sp>
      <p:sp>
        <p:nvSpPr>
          <p:cNvPr id="85" name="Google Shape;85;p18"/>
          <p:cNvSpPr txBox="1"/>
          <p:nvPr/>
        </p:nvSpPr>
        <p:spPr>
          <a:xfrm>
            <a:off x="4502700" y="114200"/>
            <a:ext cx="2602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Manual de cargos funções e rotinas </a:t>
            </a:r>
            <a:r>
              <a:rPr lang="pt-BR" sz="6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/ Sumário</a:t>
            </a:r>
            <a:endParaRPr sz="600"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86" name="Google Shape;86;p18"/>
          <p:cNvSpPr txBox="1"/>
          <p:nvPr/>
        </p:nvSpPr>
        <p:spPr>
          <a:xfrm>
            <a:off x="694450" y="10204000"/>
            <a:ext cx="2602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600">
                <a:latin typeface="Inter Light"/>
                <a:ea typeface="Inter Light"/>
                <a:cs typeface="Inter Light"/>
                <a:sym typeface="Inter Light"/>
              </a:rPr>
              <a:t>Manual de cargos funções e rotinas / Nome da empresa</a:t>
            </a:r>
            <a:endParaRPr sz="600">
              <a:latin typeface="Inter Light"/>
              <a:ea typeface="Inter Light"/>
              <a:cs typeface="Inter Light"/>
              <a:sym typeface="Inter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Inter Light"/>
              <a:ea typeface="Inter Light"/>
              <a:cs typeface="Inter Light"/>
              <a:sym typeface="Inter Ligh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/>
        </p:nvSpPr>
        <p:spPr>
          <a:xfrm>
            <a:off x="1092000" y="8747125"/>
            <a:ext cx="20418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pt-BR" sz="3200">
                <a:solidFill>
                  <a:srgbClr val="6F12FF"/>
                </a:solidFill>
                <a:latin typeface="Faustina"/>
                <a:ea typeface="Faustina"/>
                <a:cs typeface="Faustina"/>
                <a:sym typeface="Faustina"/>
              </a:rPr>
              <a:t>Introdução</a:t>
            </a:r>
            <a:endParaRPr b="1" i="1" sz="3200">
              <a:solidFill>
                <a:srgbClr val="6F12FF"/>
              </a:solidFill>
              <a:latin typeface="Faustina"/>
              <a:ea typeface="Faustina"/>
              <a:cs typeface="Faustina"/>
              <a:sym typeface="Faustina"/>
            </a:endParaRPr>
          </a:p>
        </p:txBody>
      </p:sp>
      <p:sp>
        <p:nvSpPr>
          <p:cNvPr id="92" name="Google Shape;92;p19"/>
          <p:cNvSpPr txBox="1"/>
          <p:nvPr/>
        </p:nvSpPr>
        <p:spPr>
          <a:xfrm>
            <a:off x="457200" y="8664775"/>
            <a:ext cx="6348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pt-BR" sz="4500">
                <a:solidFill>
                  <a:srgbClr val="6F12FF"/>
                </a:solidFill>
                <a:latin typeface="Faustina"/>
                <a:ea typeface="Faustina"/>
                <a:cs typeface="Faustina"/>
                <a:sym typeface="Faustina"/>
              </a:rPr>
              <a:t>1.</a:t>
            </a:r>
            <a:endParaRPr b="1" i="1" sz="4500">
              <a:solidFill>
                <a:srgbClr val="6F12FF"/>
              </a:solidFill>
              <a:latin typeface="Faustina"/>
              <a:ea typeface="Faustina"/>
              <a:cs typeface="Faustina"/>
              <a:sym typeface="Faustina"/>
            </a:endParaRPr>
          </a:p>
        </p:txBody>
      </p:sp>
      <p:pic>
        <p:nvPicPr>
          <p:cNvPr id="93" name="Google Shape;9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02650" y="-516000"/>
            <a:ext cx="2772800" cy="289756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4" name="Google Shape;94;p19"/>
          <p:cNvGrpSpPr/>
          <p:nvPr/>
        </p:nvGrpSpPr>
        <p:grpSpPr>
          <a:xfrm>
            <a:off x="3443642" y="8153285"/>
            <a:ext cx="4758139" cy="1797788"/>
            <a:chOff x="1998387" y="6125905"/>
            <a:chExt cx="4982345" cy="1882500"/>
          </a:xfrm>
        </p:grpSpPr>
        <p:sp>
          <p:nvSpPr>
            <p:cNvPr id="95" name="Google Shape;95;p19"/>
            <p:cNvSpPr/>
            <p:nvPr/>
          </p:nvSpPr>
          <p:spPr>
            <a:xfrm rot="-8100000">
              <a:off x="2271481" y="6416699"/>
              <a:ext cx="1318613" cy="1318613"/>
            </a:xfrm>
            <a:prstGeom prst="corner">
              <a:avLst>
                <a:gd fmla="val 50000" name="adj1"/>
                <a:gd fmla="val 50000" name="adj2"/>
              </a:avLst>
            </a:prstGeom>
            <a:solidFill>
              <a:srgbClr val="6F12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19"/>
            <p:cNvSpPr/>
            <p:nvPr/>
          </p:nvSpPr>
          <p:spPr>
            <a:xfrm rot="-8100000">
              <a:off x="3830246" y="6398999"/>
              <a:ext cx="1318613" cy="1318613"/>
            </a:xfrm>
            <a:prstGeom prst="corner">
              <a:avLst>
                <a:gd fmla="val 50000" name="adj1"/>
                <a:gd fmla="val 50000" name="adj2"/>
              </a:avLst>
            </a:prstGeom>
            <a:solidFill>
              <a:srgbClr val="6F12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19"/>
            <p:cNvSpPr/>
            <p:nvPr/>
          </p:nvSpPr>
          <p:spPr>
            <a:xfrm rot="-8100000">
              <a:off x="5389025" y="6398999"/>
              <a:ext cx="1318613" cy="1318613"/>
            </a:xfrm>
            <a:prstGeom prst="corner">
              <a:avLst>
                <a:gd fmla="val 50000" name="adj1"/>
                <a:gd fmla="val 50000" name="adj2"/>
              </a:avLst>
            </a:prstGeom>
            <a:solidFill>
              <a:srgbClr val="6F12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/>
        </p:nvSpPr>
        <p:spPr>
          <a:xfrm>
            <a:off x="457300" y="972075"/>
            <a:ext cx="6647700" cy="45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pt-BR" sz="2200">
                <a:solidFill>
                  <a:srgbClr val="6F12FF"/>
                </a:solidFill>
                <a:latin typeface="Faustina"/>
                <a:ea typeface="Faustina"/>
                <a:cs typeface="Faustina"/>
                <a:sym typeface="Faustina"/>
              </a:rPr>
              <a:t>Introdução</a:t>
            </a:r>
            <a:endParaRPr b="1" i="1" sz="2200">
              <a:solidFill>
                <a:srgbClr val="6F12FF"/>
              </a:solidFill>
              <a:latin typeface="Faustina"/>
              <a:ea typeface="Faustina"/>
              <a:cs typeface="Faustina"/>
              <a:sym typeface="Faustina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6F12FF"/>
                </a:solidFill>
                <a:latin typeface="Faustina"/>
                <a:ea typeface="Faustina"/>
                <a:cs typeface="Faustina"/>
                <a:sym typeface="Faustina"/>
              </a:rPr>
              <a:t>Breve explicação sobre o documento</a:t>
            </a:r>
            <a:endParaRPr>
              <a:solidFill>
                <a:srgbClr val="6F12FF"/>
              </a:solidFill>
              <a:latin typeface="Faustina"/>
              <a:ea typeface="Faustina"/>
              <a:cs typeface="Faustina"/>
              <a:sym typeface="Faustina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6F12FF"/>
              </a:solidFill>
              <a:latin typeface="Faustina"/>
              <a:ea typeface="Faustina"/>
              <a:cs typeface="Faustina"/>
              <a:sym typeface="Faustina"/>
            </a:endParaRPr>
          </a:p>
          <a:p>
            <a:pPr indent="0" lvl="0" marL="0" rtl="0" algn="just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323232"/>
                </a:solidFill>
                <a:latin typeface="Inter"/>
                <a:ea typeface="Inter"/>
                <a:cs typeface="Inter"/>
                <a:sym typeface="Inter"/>
              </a:rPr>
              <a:t>At vero eos et accusamus et iusto odio dignissimos ducimus qui blanditiis praesentium voluptatum deleniti atque corrupti quos </a:t>
            </a:r>
            <a:r>
              <a:rPr b="1" lang="pt-BR" sz="1100">
                <a:solidFill>
                  <a:srgbClr val="323232"/>
                </a:solidFill>
                <a:latin typeface="Inter"/>
                <a:ea typeface="Inter"/>
                <a:cs typeface="Inter"/>
                <a:sym typeface="Inter"/>
              </a:rPr>
              <a:t>dolores et quas molestias</a:t>
            </a:r>
            <a:r>
              <a:rPr lang="pt-BR" sz="1100">
                <a:solidFill>
                  <a:srgbClr val="323232"/>
                </a:solidFill>
                <a:latin typeface="Inter"/>
                <a:ea typeface="Inter"/>
                <a:cs typeface="Inter"/>
                <a:sym typeface="Inter"/>
              </a:rPr>
              <a:t> excepturi sint occaecat cupiditate non provident, similique sunt in culpa qui officia deserunt mollitia animi, id est laborum e </a:t>
            </a:r>
            <a:r>
              <a:rPr b="1" lang="pt-BR" sz="1100">
                <a:solidFill>
                  <a:srgbClr val="6F12FF"/>
                </a:solidFill>
                <a:latin typeface="Inter"/>
                <a:ea typeface="Inter"/>
                <a:cs typeface="Inter"/>
                <a:sym typeface="Inter"/>
              </a:rPr>
              <a:t>dolorum fuga</a:t>
            </a:r>
            <a:r>
              <a:rPr lang="pt-BR" sz="1100">
                <a:solidFill>
                  <a:srgbClr val="323232"/>
                </a:solidFill>
                <a:latin typeface="Inter"/>
                <a:ea typeface="Inter"/>
                <a:cs typeface="Inter"/>
                <a:sym typeface="Inter"/>
              </a:rPr>
              <a:t>. </a:t>
            </a:r>
            <a:endParaRPr sz="1100">
              <a:solidFill>
                <a:srgbClr val="32323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just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323232"/>
                </a:solidFill>
                <a:latin typeface="Inter"/>
                <a:ea typeface="Inter"/>
                <a:cs typeface="Inter"/>
                <a:sym typeface="Inter"/>
              </a:rPr>
              <a:t>At vero eos et accusamus et iusto odio dignissimos ducimus qui blanditiis praesentium voluptatum deleniti atque corrupti quos </a:t>
            </a:r>
            <a:r>
              <a:rPr b="1" lang="pt-BR" sz="1100">
                <a:solidFill>
                  <a:srgbClr val="323232"/>
                </a:solidFill>
                <a:latin typeface="Inter"/>
                <a:ea typeface="Inter"/>
                <a:cs typeface="Inter"/>
                <a:sym typeface="Inter"/>
              </a:rPr>
              <a:t>dolores et quas molestias</a:t>
            </a:r>
            <a:r>
              <a:rPr lang="pt-BR" sz="1100">
                <a:solidFill>
                  <a:srgbClr val="323232"/>
                </a:solidFill>
                <a:latin typeface="Inter"/>
                <a:ea typeface="Inter"/>
                <a:cs typeface="Inter"/>
                <a:sym typeface="Inter"/>
              </a:rPr>
              <a:t>. At vero eos et accusamus et iusto odio dignissimos ducimus qui blanditiis praesentium voluptatum deleniti atque corrupti quos </a:t>
            </a:r>
            <a:r>
              <a:rPr b="1" lang="pt-BR" sz="1100">
                <a:solidFill>
                  <a:srgbClr val="323232"/>
                </a:solidFill>
                <a:latin typeface="Inter"/>
                <a:ea typeface="Inter"/>
                <a:cs typeface="Inter"/>
                <a:sym typeface="Inter"/>
              </a:rPr>
              <a:t>dolores et quas molestias</a:t>
            </a:r>
            <a:r>
              <a:rPr lang="pt-BR" sz="1100">
                <a:solidFill>
                  <a:srgbClr val="323232"/>
                </a:solidFill>
                <a:latin typeface="Inter"/>
                <a:ea typeface="Inter"/>
                <a:cs typeface="Inter"/>
                <a:sym typeface="Inter"/>
              </a:rPr>
              <a:t> excepturi sint occaecat cupiditate non provident, similique sunt in culpa qui officia deserunt mollitia animi, id est laborum e </a:t>
            </a:r>
            <a:r>
              <a:rPr b="1" lang="pt-BR" sz="1100">
                <a:solidFill>
                  <a:srgbClr val="6F12FF"/>
                </a:solidFill>
                <a:latin typeface="Inter"/>
                <a:ea typeface="Inter"/>
                <a:cs typeface="Inter"/>
                <a:sym typeface="Inter"/>
              </a:rPr>
              <a:t>dolorum fuga</a:t>
            </a:r>
            <a:r>
              <a:rPr lang="pt-BR" sz="1100">
                <a:solidFill>
                  <a:srgbClr val="323232"/>
                </a:solidFill>
                <a:latin typeface="Inter"/>
                <a:ea typeface="Inter"/>
                <a:cs typeface="Inter"/>
                <a:sym typeface="Inter"/>
              </a:rPr>
              <a:t>. </a:t>
            </a:r>
            <a:endParaRPr sz="1100">
              <a:solidFill>
                <a:srgbClr val="32323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just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323232"/>
                </a:solidFill>
                <a:latin typeface="Inter"/>
                <a:ea typeface="Inter"/>
                <a:cs typeface="Inter"/>
                <a:sym typeface="Inter"/>
              </a:rPr>
              <a:t>At vero eos et accusamus et iusto odio dignissimos ducimus qui blanditiis praesentium voluptatum deleniti atque corrupti quos </a:t>
            </a:r>
            <a:r>
              <a:rPr b="1" lang="pt-BR" sz="1100">
                <a:solidFill>
                  <a:srgbClr val="323232"/>
                </a:solidFill>
                <a:latin typeface="Inter"/>
                <a:ea typeface="Inter"/>
                <a:cs typeface="Inter"/>
                <a:sym typeface="Inter"/>
              </a:rPr>
              <a:t>dolores et quas molestias</a:t>
            </a:r>
            <a:r>
              <a:rPr lang="pt-BR" sz="1100">
                <a:solidFill>
                  <a:srgbClr val="323232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1100">
              <a:solidFill>
                <a:srgbClr val="32323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just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32323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6F12FF"/>
              </a:solidFill>
              <a:latin typeface="Faustina"/>
              <a:ea typeface="Faustina"/>
              <a:cs typeface="Faustina"/>
              <a:sym typeface="Faustina"/>
            </a:endParaRPr>
          </a:p>
        </p:txBody>
      </p:sp>
      <p:sp>
        <p:nvSpPr>
          <p:cNvPr id="103" name="Google Shape;103;p20"/>
          <p:cNvSpPr txBox="1"/>
          <p:nvPr/>
        </p:nvSpPr>
        <p:spPr>
          <a:xfrm>
            <a:off x="457325" y="10204000"/>
            <a:ext cx="232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600">
                <a:solidFill>
                  <a:srgbClr val="595959"/>
                </a:solidFill>
              </a:rPr>
              <a:t>‹#›</a:t>
            </a:fld>
            <a:endParaRPr sz="600">
              <a:solidFill>
                <a:srgbClr val="595959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04" name="Google Shape;104;p20"/>
          <p:cNvSpPr txBox="1"/>
          <p:nvPr/>
        </p:nvSpPr>
        <p:spPr>
          <a:xfrm>
            <a:off x="4502700" y="114200"/>
            <a:ext cx="2602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Relatório</a:t>
            </a:r>
            <a:r>
              <a:rPr lang="pt-BR" sz="6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 / Título da página</a:t>
            </a:r>
            <a:endParaRPr sz="600"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05" name="Google Shape;105;p20"/>
          <p:cNvSpPr txBox="1"/>
          <p:nvPr/>
        </p:nvSpPr>
        <p:spPr>
          <a:xfrm>
            <a:off x="694450" y="10204000"/>
            <a:ext cx="2602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latin typeface="Inter Light"/>
                <a:ea typeface="Inter Light"/>
                <a:cs typeface="Inter Light"/>
                <a:sym typeface="Inter Light"/>
              </a:rPr>
              <a:t>Nome do Documento / Nome do cliente</a:t>
            </a:r>
            <a:endParaRPr sz="600">
              <a:latin typeface="Inter Light"/>
              <a:ea typeface="Inter Light"/>
              <a:cs typeface="Inter Light"/>
              <a:sym typeface="Inter Ligh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 txBox="1"/>
          <p:nvPr/>
        </p:nvSpPr>
        <p:spPr>
          <a:xfrm>
            <a:off x="1092000" y="8747125"/>
            <a:ext cx="2622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pt-BR" sz="3200">
                <a:solidFill>
                  <a:srgbClr val="6F12FF"/>
                </a:solidFill>
                <a:latin typeface="Faustina"/>
                <a:ea typeface="Faustina"/>
                <a:cs typeface="Faustina"/>
                <a:sym typeface="Faustina"/>
              </a:rPr>
              <a:t>Organograma</a:t>
            </a:r>
            <a:endParaRPr b="1" i="1" sz="3200">
              <a:solidFill>
                <a:srgbClr val="6F12FF"/>
              </a:solidFill>
              <a:latin typeface="Faustina"/>
              <a:ea typeface="Faustina"/>
              <a:cs typeface="Faustina"/>
              <a:sym typeface="Faustina"/>
            </a:endParaRPr>
          </a:p>
        </p:txBody>
      </p:sp>
      <p:sp>
        <p:nvSpPr>
          <p:cNvPr id="111" name="Google Shape;111;p21"/>
          <p:cNvSpPr txBox="1"/>
          <p:nvPr/>
        </p:nvSpPr>
        <p:spPr>
          <a:xfrm>
            <a:off x="457200" y="8664775"/>
            <a:ext cx="6348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pt-BR" sz="4500">
                <a:solidFill>
                  <a:srgbClr val="6F12FF"/>
                </a:solidFill>
                <a:latin typeface="Faustina"/>
                <a:ea typeface="Faustina"/>
                <a:cs typeface="Faustina"/>
                <a:sym typeface="Faustina"/>
              </a:rPr>
              <a:t>2</a:t>
            </a:r>
            <a:r>
              <a:rPr b="1" i="1" lang="pt-BR" sz="4500">
                <a:solidFill>
                  <a:srgbClr val="6F12FF"/>
                </a:solidFill>
                <a:latin typeface="Faustina"/>
                <a:ea typeface="Faustina"/>
                <a:cs typeface="Faustina"/>
                <a:sym typeface="Faustina"/>
              </a:rPr>
              <a:t>.</a:t>
            </a:r>
            <a:endParaRPr b="1" i="1" sz="4500">
              <a:solidFill>
                <a:srgbClr val="6F12FF"/>
              </a:solidFill>
              <a:latin typeface="Faustina"/>
              <a:ea typeface="Faustina"/>
              <a:cs typeface="Faustina"/>
              <a:sym typeface="Faustina"/>
            </a:endParaRPr>
          </a:p>
        </p:txBody>
      </p:sp>
      <p:pic>
        <p:nvPicPr>
          <p:cNvPr id="112" name="Google Shape;11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55050" y="-363600"/>
            <a:ext cx="2772800" cy="289756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3" name="Google Shape;113;p21"/>
          <p:cNvGrpSpPr/>
          <p:nvPr/>
        </p:nvGrpSpPr>
        <p:grpSpPr>
          <a:xfrm>
            <a:off x="3443642" y="8153285"/>
            <a:ext cx="4758139" cy="1797788"/>
            <a:chOff x="1998387" y="6125905"/>
            <a:chExt cx="4982345" cy="1882500"/>
          </a:xfrm>
        </p:grpSpPr>
        <p:sp>
          <p:nvSpPr>
            <p:cNvPr id="114" name="Google Shape;114;p21"/>
            <p:cNvSpPr/>
            <p:nvPr/>
          </p:nvSpPr>
          <p:spPr>
            <a:xfrm rot="-8100000">
              <a:off x="2271481" y="6416699"/>
              <a:ext cx="1318613" cy="1318613"/>
            </a:xfrm>
            <a:prstGeom prst="corner">
              <a:avLst>
                <a:gd fmla="val 50000" name="adj1"/>
                <a:gd fmla="val 50000" name="adj2"/>
              </a:avLst>
            </a:prstGeom>
            <a:solidFill>
              <a:srgbClr val="6F12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21"/>
            <p:cNvSpPr/>
            <p:nvPr/>
          </p:nvSpPr>
          <p:spPr>
            <a:xfrm rot="-8100000">
              <a:off x="3830246" y="6398999"/>
              <a:ext cx="1318613" cy="1318613"/>
            </a:xfrm>
            <a:prstGeom prst="corner">
              <a:avLst>
                <a:gd fmla="val 50000" name="adj1"/>
                <a:gd fmla="val 50000" name="adj2"/>
              </a:avLst>
            </a:prstGeom>
            <a:solidFill>
              <a:srgbClr val="6F12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21"/>
            <p:cNvSpPr/>
            <p:nvPr/>
          </p:nvSpPr>
          <p:spPr>
            <a:xfrm rot="-8100000">
              <a:off x="5389025" y="6398999"/>
              <a:ext cx="1318613" cy="1318613"/>
            </a:xfrm>
            <a:prstGeom prst="corner">
              <a:avLst>
                <a:gd fmla="val 50000" name="adj1"/>
                <a:gd fmla="val 50000" name="adj2"/>
              </a:avLst>
            </a:prstGeom>
            <a:solidFill>
              <a:srgbClr val="6F12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"/>
          <p:cNvSpPr txBox="1"/>
          <p:nvPr/>
        </p:nvSpPr>
        <p:spPr>
          <a:xfrm>
            <a:off x="457300" y="972075"/>
            <a:ext cx="6647700" cy="42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pt-BR" sz="2200">
                <a:solidFill>
                  <a:srgbClr val="6F12FF"/>
                </a:solidFill>
                <a:latin typeface="Faustina"/>
                <a:ea typeface="Faustina"/>
                <a:cs typeface="Faustina"/>
                <a:sym typeface="Faustina"/>
              </a:rPr>
              <a:t>Organograma</a:t>
            </a:r>
            <a:endParaRPr b="1" i="1" sz="2200">
              <a:solidFill>
                <a:srgbClr val="6F12FF"/>
              </a:solidFill>
              <a:latin typeface="Faustina"/>
              <a:ea typeface="Faustina"/>
              <a:cs typeface="Faustina"/>
              <a:sym typeface="Faustina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6F12FF"/>
                </a:solidFill>
                <a:latin typeface="Faustina"/>
                <a:ea typeface="Faustina"/>
                <a:cs typeface="Faustina"/>
                <a:sym typeface="Faustina"/>
              </a:rPr>
              <a:t>Estrutura Organizacional</a:t>
            </a:r>
            <a:endParaRPr>
              <a:solidFill>
                <a:srgbClr val="6F12FF"/>
              </a:solidFill>
              <a:latin typeface="Faustina"/>
              <a:ea typeface="Faustina"/>
              <a:cs typeface="Faustina"/>
              <a:sym typeface="Faustina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6F12FF"/>
              </a:solidFill>
              <a:latin typeface="Faustina"/>
              <a:ea typeface="Faustina"/>
              <a:cs typeface="Faustina"/>
              <a:sym typeface="Faustina"/>
            </a:endParaRPr>
          </a:p>
          <a:p>
            <a:pPr indent="0" lvl="0" marL="0" rtl="0" algn="just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323232"/>
                </a:solidFill>
                <a:latin typeface="Inter"/>
                <a:ea typeface="Inter"/>
                <a:cs typeface="Inter"/>
                <a:sym typeface="Inter"/>
              </a:rPr>
              <a:t>At vero eos et accusamus et iusto odio dignissimos ducimus qui blanditiis praesentium voluptatum deleniti atque corrupti quos </a:t>
            </a:r>
            <a:r>
              <a:rPr b="1" lang="pt-BR" sz="1100">
                <a:solidFill>
                  <a:srgbClr val="323232"/>
                </a:solidFill>
                <a:latin typeface="Inter"/>
                <a:ea typeface="Inter"/>
                <a:cs typeface="Inter"/>
                <a:sym typeface="Inter"/>
              </a:rPr>
              <a:t>dolores et quas molestias</a:t>
            </a:r>
            <a:r>
              <a:rPr lang="pt-BR" sz="1100">
                <a:solidFill>
                  <a:srgbClr val="323232"/>
                </a:solidFill>
                <a:latin typeface="Inter"/>
                <a:ea typeface="Inter"/>
                <a:cs typeface="Inter"/>
                <a:sym typeface="Inter"/>
              </a:rPr>
              <a:t> excepturi sint occaecat cupiditate non provident, similique sunt in culpa qui officia deserunt mollitia animi, id est laborum e </a:t>
            </a:r>
            <a:r>
              <a:rPr b="1" lang="pt-BR" sz="1100">
                <a:solidFill>
                  <a:srgbClr val="6F12FF"/>
                </a:solidFill>
                <a:latin typeface="Inter"/>
                <a:ea typeface="Inter"/>
                <a:cs typeface="Inter"/>
                <a:sym typeface="Inter"/>
              </a:rPr>
              <a:t>dolorum fuga</a:t>
            </a:r>
            <a:r>
              <a:rPr lang="pt-BR" sz="1100">
                <a:solidFill>
                  <a:srgbClr val="323232"/>
                </a:solidFill>
                <a:latin typeface="Inter"/>
                <a:ea typeface="Inter"/>
                <a:cs typeface="Inter"/>
                <a:sym typeface="Inter"/>
              </a:rPr>
              <a:t>. </a:t>
            </a:r>
            <a:endParaRPr sz="1100">
              <a:solidFill>
                <a:srgbClr val="32323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just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323232"/>
                </a:solidFill>
                <a:latin typeface="Inter"/>
                <a:ea typeface="Inter"/>
                <a:cs typeface="Inter"/>
                <a:sym typeface="Inter"/>
              </a:rPr>
              <a:t>At vero eos et accusamus et iusto odio dignissimos ducimus qui blanditiis praesentium voluptatum deleniti atque corrupti quos </a:t>
            </a:r>
            <a:r>
              <a:rPr b="1" lang="pt-BR" sz="1100">
                <a:solidFill>
                  <a:srgbClr val="323232"/>
                </a:solidFill>
                <a:latin typeface="Inter"/>
                <a:ea typeface="Inter"/>
                <a:cs typeface="Inter"/>
                <a:sym typeface="Inter"/>
              </a:rPr>
              <a:t>dolores et quas molestias</a:t>
            </a:r>
            <a:r>
              <a:rPr lang="pt-BR" sz="1100">
                <a:solidFill>
                  <a:srgbClr val="323232"/>
                </a:solidFill>
                <a:latin typeface="Inter"/>
                <a:ea typeface="Inter"/>
                <a:cs typeface="Inter"/>
                <a:sym typeface="Inter"/>
              </a:rPr>
              <a:t>. At vero eos et accusamus et iusto odio dignissimos ducimus qui blanditiis praesentium voluptatum deleniti atque corrupti quos </a:t>
            </a:r>
            <a:r>
              <a:rPr b="1" lang="pt-BR" sz="1100">
                <a:solidFill>
                  <a:srgbClr val="323232"/>
                </a:solidFill>
                <a:latin typeface="Inter"/>
                <a:ea typeface="Inter"/>
                <a:cs typeface="Inter"/>
                <a:sym typeface="Inter"/>
              </a:rPr>
              <a:t>dolores et quas molestias</a:t>
            </a:r>
            <a:r>
              <a:rPr lang="pt-BR" sz="1100">
                <a:solidFill>
                  <a:srgbClr val="323232"/>
                </a:solidFill>
                <a:latin typeface="Inter"/>
                <a:ea typeface="Inter"/>
                <a:cs typeface="Inter"/>
                <a:sym typeface="Inter"/>
              </a:rPr>
              <a:t> excepturi sint occaecat cupiditate non provident, similique sunt in culpa qui officia deserunt mollitia animi, id est laborum e </a:t>
            </a:r>
            <a:r>
              <a:rPr b="1" lang="pt-BR" sz="1100">
                <a:solidFill>
                  <a:srgbClr val="6F12FF"/>
                </a:solidFill>
                <a:latin typeface="Inter"/>
                <a:ea typeface="Inter"/>
                <a:cs typeface="Inter"/>
                <a:sym typeface="Inter"/>
              </a:rPr>
              <a:t>dolorum fuga</a:t>
            </a:r>
            <a:r>
              <a:rPr lang="pt-BR" sz="1100">
                <a:solidFill>
                  <a:srgbClr val="323232"/>
                </a:solidFill>
                <a:latin typeface="Inter"/>
                <a:ea typeface="Inter"/>
                <a:cs typeface="Inter"/>
                <a:sym typeface="Inter"/>
              </a:rPr>
              <a:t>. </a:t>
            </a:r>
            <a:endParaRPr sz="1100">
              <a:solidFill>
                <a:srgbClr val="32323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just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323232"/>
                </a:solidFill>
                <a:latin typeface="Inter"/>
                <a:ea typeface="Inter"/>
                <a:cs typeface="Inter"/>
                <a:sym typeface="Inter"/>
              </a:rPr>
              <a:t>At vero eos et accusamus et iusto odio dignissimos ducimus qui blanditiis praesentium voluptatum deleniti atque corrupti quos </a:t>
            </a:r>
            <a:r>
              <a:rPr b="1" lang="pt-BR" sz="1100">
                <a:solidFill>
                  <a:srgbClr val="323232"/>
                </a:solidFill>
                <a:latin typeface="Inter"/>
                <a:ea typeface="Inter"/>
                <a:cs typeface="Inter"/>
                <a:sym typeface="Inter"/>
              </a:rPr>
              <a:t>dolores et quas molestias</a:t>
            </a:r>
            <a:r>
              <a:rPr lang="pt-BR" sz="1100">
                <a:solidFill>
                  <a:srgbClr val="323232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1100">
              <a:solidFill>
                <a:srgbClr val="32323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6F12FF"/>
              </a:solidFill>
              <a:latin typeface="Faustina"/>
              <a:ea typeface="Faustina"/>
              <a:cs typeface="Faustina"/>
              <a:sym typeface="Faustina"/>
            </a:endParaRPr>
          </a:p>
        </p:txBody>
      </p:sp>
      <p:sp>
        <p:nvSpPr>
          <p:cNvPr id="122" name="Google Shape;122;p22"/>
          <p:cNvSpPr txBox="1"/>
          <p:nvPr/>
        </p:nvSpPr>
        <p:spPr>
          <a:xfrm>
            <a:off x="457325" y="10204000"/>
            <a:ext cx="232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600">
                <a:solidFill>
                  <a:srgbClr val="595959"/>
                </a:solidFill>
              </a:rPr>
              <a:t>‹#›</a:t>
            </a:fld>
            <a:endParaRPr sz="600">
              <a:solidFill>
                <a:srgbClr val="595959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23" name="Google Shape;123;p22"/>
          <p:cNvSpPr txBox="1"/>
          <p:nvPr/>
        </p:nvSpPr>
        <p:spPr>
          <a:xfrm>
            <a:off x="4502700" y="114200"/>
            <a:ext cx="2602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Relatório</a:t>
            </a:r>
            <a:r>
              <a:rPr lang="pt-BR" sz="6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 / Título da página</a:t>
            </a:r>
            <a:endParaRPr sz="600"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24" name="Google Shape;124;p22"/>
          <p:cNvSpPr txBox="1"/>
          <p:nvPr/>
        </p:nvSpPr>
        <p:spPr>
          <a:xfrm>
            <a:off x="694450" y="10204000"/>
            <a:ext cx="2602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latin typeface="Inter Light"/>
                <a:ea typeface="Inter Light"/>
                <a:cs typeface="Inter Light"/>
                <a:sym typeface="Inter Light"/>
              </a:rPr>
              <a:t>Nome do Documento / Nome do cliente</a:t>
            </a:r>
            <a:endParaRPr sz="600"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25" name="Google Shape;125;p22"/>
          <p:cNvSpPr/>
          <p:nvPr/>
        </p:nvSpPr>
        <p:spPr>
          <a:xfrm>
            <a:off x="2952138" y="6044550"/>
            <a:ext cx="1655700" cy="1596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Inter"/>
                <a:ea typeface="Inter"/>
                <a:cs typeface="Inter"/>
                <a:sym typeface="Inter"/>
              </a:rPr>
              <a:t>Adicione aqui o Organograma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3"/>
          <p:cNvSpPr txBox="1"/>
          <p:nvPr/>
        </p:nvSpPr>
        <p:spPr>
          <a:xfrm>
            <a:off x="533500" y="1124475"/>
            <a:ext cx="2342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pt-BR" sz="2200">
                <a:solidFill>
                  <a:srgbClr val="6F12FF"/>
                </a:solidFill>
                <a:latin typeface="Faustina"/>
                <a:ea typeface="Faustina"/>
                <a:cs typeface="Faustina"/>
                <a:sym typeface="Faustina"/>
              </a:rPr>
              <a:t>Organograma</a:t>
            </a:r>
            <a:endParaRPr b="1" i="1" sz="1200">
              <a:solidFill>
                <a:srgbClr val="6F12FF"/>
              </a:solidFill>
              <a:latin typeface="Faustina"/>
              <a:ea typeface="Faustina"/>
              <a:cs typeface="Faustina"/>
              <a:sym typeface="Faustina"/>
            </a:endParaRPr>
          </a:p>
        </p:txBody>
      </p:sp>
      <p:sp>
        <p:nvSpPr>
          <p:cNvPr id="131" name="Google Shape;131;p23"/>
          <p:cNvSpPr txBox="1"/>
          <p:nvPr/>
        </p:nvSpPr>
        <p:spPr>
          <a:xfrm>
            <a:off x="2799775" y="1200675"/>
            <a:ext cx="4305000" cy="9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323232"/>
                </a:solidFill>
                <a:latin typeface="Inter"/>
                <a:ea typeface="Inter"/>
                <a:cs typeface="Inter"/>
                <a:sym typeface="Inter"/>
              </a:rPr>
              <a:t>Um organograma é uma representação gráfica que ilustra a estrutura organizacional de uma empresa, apresentando a disposição hierárquica e por áreas dos cargos em relação às funções e às relações de subordinação.</a:t>
            </a:r>
            <a:endParaRPr sz="1100">
              <a:solidFill>
                <a:srgbClr val="32323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2" name="Google Shape;132;p23"/>
          <p:cNvSpPr txBox="1"/>
          <p:nvPr/>
        </p:nvSpPr>
        <p:spPr>
          <a:xfrm>
            <a:off x="457325" y="10204000"/>
            <a:ext cx="232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600">
                <a:solidFill>
                  <a:srgbClr val="595959"/>
                </a:solidFill>
              </a:rPr>
              <a:t>‹#›</a:t>
            </a:fld>
            <a:endParaRPr sz="600">
              <a:solidFill>
                <a:srgbClr val="595959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33" name="Google Shape;133;p23"/>
          <p:cNvSpPr txBox="1"/>
          <p:nvPr/>
        </p:nvSpPr>
        <p:spPr>
          <a:xfrm>
            <a:off x="4502700" y="114200"/>
            <a:ext cx="2602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Manual de cargos funções e rotinas </a:t>
            </a:r>
            <a:r>
              <a:rPr lang="pt-BR" sz="6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/ Organograma</a:t>
            </a:r>
            <a:endParaRPr sz="600"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34" name="Google Shape;134;p23"/>
          <p:cNvSpPr txBox="1"/>
          <p:nvPr/>
        </p:nvSpPr>
        <p:spPr>
          <a:xfrm>
            <a:off x="694450" y="10204000"/>
            <a:ext cx="2602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latin typeface="Inter Light"/>
                <a:ea typeface="Inter Light"/>
                <a:cs typeface="Inter Light"/>
                <a:sym typeface="Inter Light"/>
              </a:rPr>
              <a:t>Manual de cargos, funções e rotinas / </a:t>
            </a:r>
            <a:r>
              <a:rPr lang="pt-BR" sz="600">
                <a:latin typeface="Inter Light"/>
                <a:ea typeface="Inter Light"/>
                <a:cs typeface="Inter Light"/>
                <a:sym typeface="Inter Light"/>
              </a:rPr>
              <a:t>Nome da empresa</a:t>
            </a:r>
            <a:endParaRPr sz="600">
              <a:latin typeface="Inter Light"/>
              <a:ea typeface="Inter Light"/>
              <a:cs typeface="Inter Light"/>
              <a:sym typeface="Inter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Inter Light"/>
              <a:ea typeface="Inter Light"/>
              <a:cs typeface="Inter Light"/>
              <a:sym typeface="Inter Ligh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02650" y="-516000"/>
            <a:ext cx="2772800" cy="2897568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24"/>
          <p:cNvSpPr txBox="1"/>
          <p:nvPr/>
        </p:nvSpPr>
        <p:spPr>
          <a:xfrm>
            <a:off x="1092000" y="8747125"/>
            <a:ext cx="20418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pt-BR" sz="3200">
                <a:solidFill>
                  <a:srgbClr val="6F12FF"/>
                </a:solidFill>
                <a:latin typeface="Faustina"/>
                <a:ea typeface="Faustina"/>
                <a:cs typeface="Faustina"/>
                <a:sym typeface="Faustina"/>
              </a:rPr>
              <a:t>Descrição de cargos</a:t>
            </a:r>
            <a:endParaRPr b="1" i="1" sz="3200">
              <a:solidFill>
                <a:srgbClr val="6F12FF"/>
              </a:solidFill>
              <a:latin typeface="Faustina"/>
              <a:ea typeface="Faustina"/>
              <a:cs typeface="Faustina"/>
              <a:sym typeface="Faustina"/>
            </a:endParaRPr>
          </a:p>
        </p:txBody>
      </p:sp>
      <p:sp>
        <p:nvSpPr>
          <p:cNvPr id="141" name="Google Shape;141;p24"/>
          <p:cNvSpPr txBox="1"/>
          <p:nvPr/>
        </p:nvSpPr>
        <p:spPr>
          <a:xfrm>
            <a:off x="457200" y="8664775"/>
            <a:ext cx="6348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pt-BR" sz="4500">
                <a:solidFill>
                  <a:srgbClr val="6F12FF"/>
                </a:solidFill>
                <a:latin typeface="Faustina"/>
                <a:ea typeface="Faustina"/>
                <a:cs typeface="Faustina"/>
                <a:sym typeface="Faustina"/>
              </a:rPr>
              <a:t>3.</a:t>
            </a:r>
            <a:endParaRPr b="1" i="1" sz="4500">
              <a:solidFill>
                <a:srgbClr val="6F12FF"/>
              </a:solidFill>
              <a:latin typeface="Faustina"/>
              <a:ea typeface="Faustina"/>
              <a:cs typeface="Faustina"/>
              <a:sym typeface="Faustina"/>
            </a:endParaRPr>
          </a:p>
        </p:txBody>
      </p:sp>
      <p:grpSp>
        <p:nvGrpSpPr>
          <p:cNvPr id="142" name="Google Shape;142;p24"/>
          <p:cNvGrpSpPr/>
          <p:nvPr/>
        </p:nvGrpSpPr>
        <p:grpSpPr>
          <a:xfrm>
            <a:off x="3443642" y="8153285"/>
            <a:ext cx="4758139" cy="1797788"/>
            <a:chOff x="1998387" y="6125905"/>
            <a:chExt cx="4982345" cy="1882500"/>
          </a:xfrm>
        </p:grpSpPr>
        <p:sp>
          <p:nvSpPr>
            <p:cNvPr id="143" name="Google Shape;143;p24"/>
            <p:cNvSpPr/>
            <p:nvPr/>
          </p:nvSpPr>
          <p:spPr>
            <a:xfrm rot="-8100000">
              <a:off x="2271481" y="6416699"/>
              <a:ext cx="1318613" cy="1318613"/>
            </a:xfrm>
            <a:prstGeom prst="corner">
              <a:avLst>
                <a:gd fmla="val 50000" name="adj1"/>
                <a:gd fmla="val 50000" name="adj2"/>
              </a:avLst>
            </a:prstGeom>
            <a:solidFill>
              <a:srgbClr val="6F12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24"/>
            <p:cNvSpPr/>
            <p:nvPr/>
          </p:nvSpPr>
          <p:spPr>
            <a:xfrm rot="-8100000">
              <a:off x="3830246" y="6398999"/>
              <a:ext cx="1318613" cy="1318613"/>
            </a:xfrm>
            <a:prstGeom prst="corner">
              <a:avLst>
                <a:gd fmla="val 50000" name="adj1"/>
                <a:gd fmla="val 50000" name="adj2"/>
              </a:avLst>
            </a:prstGeom>
            <a:solidFill>
              <a:srgbClr val="6F12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24"/>
            <p:cNvSpPr/>
            <p:nvPr/>
          </p:nvSpPr>
          <p:spPr>
            <a:xfrm rot="-8100000">
              <a:off x="5389025" y="6398999"/>
              <a:ext cx="1318613" cy="1318613"/>
            </a:xfrm>
            <a:prstGeom prst="corner">
              <a:avLst>
                <a:gd fmla="val 50000" name="adj1"/>
                <a:gd fmla="val 50000" name="adj2"/>
              </a:avLst>
            </a:prstGeom>
            <a:solidFill>
              <a:srgbClr val="6F12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5"/>
          <p:cNvSpPr txBox="1"/>
          <p:nvPr/>
        </p:nvSpPr>
        <p:spPr>
          <a:xfrm>
            <a:off x="568500" y="638175"/>
            <a:ext cx="6090000" cy="58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pt-BR" sz="2400">
                <a:solidFill>
                  <a:srgbClr val="6F12FF"/>
                </a:solidFill>
                <a:latin typeface="Faustina"/>
                <a:ea typeface="Faustina"/>
                <a:cs typeface="Faustina"/>
                <a:sym typeface="Faustina"/>
              </a:rPr>
              <a:t>Descrição do Cargo</a:t>
            </a:r>
            <a:endParaRPr sz="1600">
              <a:solidFill>
                <a:srgbClr val="6F12FF"/>
              </a:solidFill>
              <a:latin typeface="Faustina"/>
              <a:ea typeface="Faustina"/>
              <a:cs typeface="Faustina"/>
              <a:sym typeface="Faustina"/>
            </a:endParaRPr>
          </a:p>
          <a:p>
            <a:pPr indent="0" lvl="0" marL="0" rtl="0"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6F12FF"/>
                </a:solidFill>
                <a:latin typeface="Faustina"/>
                <a:ea typeface="Faustina"/>
                <a:cs typeface="Faustina"/>
                <a:sym typeface="Faustina"/>
              </a:rPr>
              <a:t>Cargo</a:t>
            </a:r>
            <a:endParaRPr sz="1600">
              <a:solidFill>
                <a:srgbClr val="6F12FF"/>
              </a:solidFill>
              <a:latin typeface="Faustina"/>
              <a:ea typeface="Faustina"/>
              <a:cs typeface="Faustina"/>
              <a:sym typeface="Faustina"/>
            </a:endParaRPr>
          </a:p>
          <a:p>
            <a:pPr indent="0" lvl="0" marL="0" rtl="0"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323232"/>
                </a:solidFill>
                <a:latin typeface="Inter"/>
                <a:ea typeface="Inter"/>
                <a:cs typeface="Inter"/>
                <a:sym typeface="Inter"/>
              </a:rPr>
              <a:t>Nome atribuído à posição que uma determinada pessoa ocupa em uma instituição.</a:t>
            </a:r>
            <a:endParaRPr sz="1200">
              <a:solidFill>
                <a:srgbClr val="32323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6F12FF"/>
                </a:solidFill>
                <a:latin typeface="Faustina"/>
                <a:ea typeface="Faustina"/>
                <a:cs typeface="Faustina"/>
                <a:sym typeface="Faustina"/>
              </a:rPr>
              <a:t>Missão</a:t>
            </a:r>
            <a:endParaRPr i="1" sz="1200">
              <a:solidFill>
                <a:srgbClr val="32323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i="1" lang="pt-BR" sz="1200">
                <a:solidFill>
                  <a:srgbClr val="323232"/>
                </a:solidFill>
                <a:latin typeface="Inter"/>
                <a:ea typeface="Inter"/>
                <a:cs typeface="Inter"/>
                <a:sym typeface="Inter"/>
              </a:rPr>
              <a:t>“A missão do cargo indica, essencialmente; o que a empresa espera deste empregado e quais os resultados que o mesmo deve entregar dentro de suas atividades.”</a:t>
            </a:r>
            <a:endParaRPr i="1" sz="1200">
              <a:solidFill>
                <a:srgbClr val="32323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i="1" lang="pt-BR" sz="2400">
                <a:solidFill>
                  <a:srgbClr val="6F12FF"/>
                </a:solidFill>
                <a:latin typeface="Faustina"/>
                <a:ea typeface="Faustina"/>
                <a:cs typeface="Faustina"/>
                <a:sym typeface="Faustina"/>
              </a:rPr>
              <a:t>Funções</a:t>
            </a:r>
            <a:endParaRPr b="1" i="1" sz="2400">
              <a:solidFill>
                <a:srgbClr val="6F12FF"/>
              </a:solidFill>
              <a:latin typeface="Faustina"/>
              <a:ea typeface="Faustina"/>
              <a:cs typeface="Faustina"/>
              <a:sym typeface="Faustina"/>
            </a:endParaRPr>
          </a:p>
          <a:p>
            <a:pPr indent="0" lvl="0" marL="0" rtl="0"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6F12FF"/>
                </a:solidFill>
                <a:latin typeface="Faustina"/>
                <a:ea typeface="Faustina"/>
                <a:cs typeface="Faustina"/>
                <a:sym typeface="Faustina"/>
              </a:rPr>
              <a:t>Diárias</a:t>
            </a:r>
            <a:endParaRPr b="1" i="1" sz="2400">
              <a:solidFill>
                <a:srgbClr val="6F12FF"/>
              </a:solidFill>
              <a:latin typeface="Faustina"/>
              <a:ea typeface="Faustina"/>
              <a:cs typeface="Faustina"/>
              <a:sym typeface="Faustina"/>
            </a:endParaRPr>
          </a:p>
          <a:p>
            <a:pPr indent="-304800" lvl="0" marL="457200" rtl="0"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6F12FF"/>
              </a:buClr>
              <a:buSzPts val="1200"/>
              <a:buFont typeface="Inter"/>
              <a:buChar char="●"/>
            </a:pPr>
            <a:r>
              <a:rPr lang="pt-BR" sz="1200">
                <a:solidFill>
                  <a:srgbClr val="323232"/>
                </a:solidFill>
                <a:latin typeface="Inter"/>
                <a:ea typeface="Inter"/>
                <a:cs typeface="Inter"/>
                <a:sym typeface="Inter"/>
              </a:rPr>
              <a:t>Conjunto de atividades que, diante de habilidades requisitadas, são responsabilidade do cargo, vistas como atribuições a serem realizadas durante a rotina no escritório;</a:t>
            </a:r>
            <a:endParaRPr sz="1200">
              <a:solidFill>
                <a:srgbClr val="32323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6F12FF"/>
                </a:solidFill>
                <a:latin typeface="Faustina"/>
                <a:ea typeface="Faustina"/>
                <a:cs typeface="Faustina"/>
                <a:sym typeface="Faustina"/>
              </a:rPr>
              <a:t>Semanais</a:t>
            </a:r>
            <a:endParaRPr sz="1200">
              <a:solidFill>
                <a:srgbClr val="32323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04800" lvl="0" marL="457200" rtl="0"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6F12FF"/>
              </a:buClr>
              <a:buSzPts val="1200"/>
              <a:buFont typeface="Inter"/>
              <a:buChar char="●"/>
            </a:pPr>
            <a:r>
              <a:rPr lang="pt-BR" sz="1200">
                <a:solidFill>
                  <a:srgbClr val="323232"/>
                </a:solidFill>
                <a:latin typeface="Inter"/>
                <a:ea typeface="Inter"/>
                <a:cs typeface="Inter"/>
                <a:sym typeface="Inter"/>
              </a:rPr>
              <a:t>Atividade 2;</a:t>
            </a:r>
            <a:endParaRPr sz="1200">
              <a:solidFill>
                <a:srgbClr val="32323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04800" lvl="0" marL="457200" rtl="0"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6F12FF"/>
              </a:buClr>
              <a:buSzPts val="1200"/>
              <a:buFont typeface="Inter"/>
              <a:buChar char="●"/>
            </a:pPr>
            <a:r>
              <a:rPr lang="pt-BR" sz="1200">
                <a:solidFill>
                  <a:srgbClr val="323232"/>
                </a:solidFill>
                <a:latin typeface="Inter"/>
                <a:ea typeface="Inter"/>
                <a:cs typeface="Inter"/>
                <a:sym typeface="Inter"/>
              </a:rPr>
              <a:t>Atividade 3.</a:t>
            </a:r>
            <a:endParaRPr sz="1200">
              <a:solidFill>
                <a:srgbClr val="32323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1" name="Google Shape;151;p25"/>
          <p:cNvSpPr txBox="1"/>
          <p:nvPr/>
        </p:nvSpPr>
        <p:spPr>
          <a:xfrm>
            <a:off x="-151875" y="10211075"/>
            <a:ext cx="548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600">
                <a:solidFill>
                  <a:srgbClr val="595959"/>
                </a:solidFill>
              </a:rPr>
              <a:t>‹#›</a:t>
            </a:fld>
            <a:endParaRPr sz="600">
              <a:solidFill>
                <a:srgbClr val="595959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52" name="Google Shape;152;p25"/>
          <p:cNvSpPr txBox="1"/>
          <p:nvPr/>
        </p:nvSpPr>
        <p:spPr>
          <a:xfrm>
            <a:off x="4655100" y="266600"/>
            <a:ext cx="2602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Manual de cargos funções e rotinas </a:t>
            </a:r>
            <a:r>
              <a:rPr lang="pt-BR" sz="6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/ Descrição de cargos</a:t>
            </a:r>
            <a:endParaRPr sz="600"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53" name="Google Shape;153;p25"/>
          <p:cNvSpPr txBox="1"/>
          <p:nvPr/>
        </p:nvSpPr>
        <p:spPr>
          <a:xfrm>
            <a:off x="694450" y="10204000"/>
            <a:ext cx="2602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latin typeface="Inter Light"/>
                <a:ea typeface="Inter Light"/>
                <a:cs typeface="Inter Light"/>
                <a:sym typeface="Inter Light"/>
              </a:rPr>
              <a:t>Manual de cargos, funções e rotinas / Nome da empresa</a:t>
            </a:r>
            <a:endParaRPr sz="600">
              <a:latin typeface="Inter Light"/>
              <a:ea typeface="Inter Light"/>
              <a:cs typeface="Inter Light"/>
              <a:sym typeface="Inter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Inter Light"/>
              <a:ea typeface="Inter Light"/>
              <a:cs typeface="Inter Light"/>
              <a:sym typeface="Inter Light"/>
            </a:endParaRPr>
          </a:p>
        </p:txBody>
      </p:sp>
      <p:pic>
        <p:nvPicPr>
          <p:cNvPr id="154" name="Google Shape;15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58526" y="5077100"/>
            <a:ext cx="2364036" cy="21014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58526" y="7058300"/>
            <a:ext cx="2364036" cy="21014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6"/>
          <p:cNvSpPr txBox="1"/>
          <p:nvPr/>
        </p:nvSpPr>
        <p:spPr>
          <a:xfrm>
            <a:off x="-151875" y="10211075"/>
            <a:ext cx="548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600">
                <a:solidFill>
                  <a:srgbClr val="595959"/>
                </a:solidFill>
              </a:rPr>
              <a:t>‹#›</a:t>
            </a:fld>
            <a:endParaRPr sz="600">
              <a:solidFill>
                <a:srgbClr val="595959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61" name="Google Shape;161;p26"/>
          <p:cNvSpPr txBox="1"/>
          <p:nvPr/>
        </p:nvSpPr>
        <p:spPr>
          <a:xfrm>
            <a:off x="568475" y="967650"/>
            <a:ext cx="3722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pt-BR" sz="3600">
                <a:solidFill>
                  <a:srgbClr val="6F12FF"/>
                </a:solidFill>
                <a:latin typeface="Faustina"/>
                <a:ea typeface="Faustina"/>
                <a:cs typeface="Faustina"/>
                <a:sym typeface="Faustina"/>
              </a:rPr>
              <a:t>Descrição</a:t>
            </a:r>
            <a:r>
              <a:rPr b="1" i="1" lang="pt-BR" sz="3600">
                <a:solidFill>
                  <a:srgbClr val="6F12FF"/>
                </a:solidFill>
                <a:latin typeface="Faustina"/>
                <a:ea typeface="Faustina"/>
                <a:cs typeface="Faustina"/>
                <a:sym typeface="Faustina"/>
              </a:rPr>
              <a:t> do cargo</a:t>
            </a:r>
            <a:endParaRPr b="1" i="1" sz="3600">
              <a:solidFill>
                <a:srgbClr val="6F12FF"/>
              </a:solidFill>
              <a:latin typeface="Faustina"/>
              <a:ea typeface="Faustina"/>
              <a:cs typeface="Faustina"/>
              <a:sym typeface="Faustina"/>
            </a:endParaRPr>
          </a:p>
        </p:txBody>
      </p:sp>
      <p:sp>
        <p:nvSpPr>
          <p:cNvPr id="162" name="Google Shape;162;p26"/>
          <p:cNvSpPr txBox="1"/>
          <p:nvPr/>
        </p:nvSpPr>
        <p:spPr>
          <a:xfrm>
            <a:off x="568475" y="2496775"/>
            <a:ext cx="2342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pt-BR" sz="2400">
                <a:solidFill>
                  <a:srgbClr val="6F12FF"/>
                </a:solidFill>
                <a:latin typeface="Faustina"/>
                <a:ea typeface="Faustina"/>
                <a:cs typeface="Faustina"/>
                <a:sym typeface="Faustina"/>
              </a:rPr>
              <a:t>Missão</a:t>
            </a:r>
            <a:endParaRPr b="1" i="1" sz="2400">
              <a:solidFill>
                <a:srgbClr val="6F12FF"/>
              </a:solidFill>
              <a:latin typeface="Faustina"/>
              <a:ea typeface="Faustina"/>
              <a:cs typeface="Faustina"/>
              <a:sym typeface="Faustina"/>
            </a:endParaRPr>
          </a:p>
        </p:txBody>
      </p:sp>
      <p:sp>
        <p:nvSpPr>
          <p:cNvPr id="163" name="Google Shape;163;p26"/>
          <p:cNvSpPr txBox="1"/>
          <p:nvPr/>
        </p:nvSpPr>
        <p:spPr>
          <a:xfrm>
            <a:off x="2175900" y="2388925"/>
            <a:ext cx="5081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pt-BR" sz="1200">
                <a:solidFill>
                  <a:srgbClr val="6F12FF"/>
                </a:solidFill>
                <a:latin typeface="Inter"/>
                <a:ea typeface="Inter"/>
                <a:cs typeface="Inter"/>
                <a:sym typeface="Inter"/>
              </a:rPr>
              <a:t>“At vero eos et accusamus et iusto odio dignissimos ducimus qui blanditiis praesentium voluptatum deleniti atque corrupti quos dolores et quas molestias.</a:t>
            </a:r>
            <a:r>
              <a:rPr i="1" lang="pt-BR" sz="1200">
                <a:solidFill>
                  <a:srgbClr val="6F12FF"/>
                </a:solidFill>
                <a:latin typeface="Inter"/>
                <a:ea typeface="Inter"/>
                <a:cs typeface="Inter"/>
                <a:sym typeface="Inter"/>
              </a:rPr>
              <a:t>” </a:t>
            </a:r>
            <a:r>
              <a:rPr i="1" lang="pt-BR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(Centralizar com “Missão”)</a:t>
            </a:r>
            <a:endParaRPr i="1"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4" name="Google Shape;164;p26"/>
          <p:cNvSpPr txBox="1"/>
          <p:nvPr/>
        </p:nvSpPr>
        <p:spPr>
          <a:xfrm>
            <a:off x="568475" y="3933500"/>
            <a:ext cx="6156600" cy="38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i="1" lang="pt-BR" sz="2400">
                <a:solidFill>
                  <a:srgbClr val="6F12FF"/>
                </a:solidFill>
                <a:latin typeface="Faustina"/>
                <a:ea typeface="Faustina"/>
                <a:cs typeface="Faustina"/>
                <a:sym typeface="Faustina"/>
              </a:rPr>
              <a:t>Funções</a:t>
            </a:r>
            <a:endParaRPr sz="1200">
              <a:solidFill>
                <a:srgbClr val="32323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0" marL="457200" rtl="0"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6F12FF"/>
              </a:buClr>
              <a:buSzPts val="1300"/>
              <a:buFont typeface="Inter"/>
              <a:buChar char="→"/>
            </a:pPr>
            <a:r>
              <a:rPr lang="pt-BR" sz="1200">
                <a:solidFill>
                  <a:srgbClr val="323232"/>
                </a:solidFill>
                <a:latin typeface="Inter"/>
                <a:ea typeface="Inter"/>
                <a:cs typeface="Inter"/>
                <a:sym typeface="Inter"/>
              </a:rPr>
              <a:t>At vero eos et accusamus et iusto odio dignissimos ducimus qui blanditiis praesentium voluptatum deleniti atque corrupti quos dolores et quas molestias;</a:t>
            </a:r>
            <a:endParaRPr sz="1200">
              <a:solidFill>
                <a:srgbClr val="32323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04800" lvl="0" marL="457200" rtl="0"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6F12FF"/>
              </a:buClr>
              <a:buSzPts val="1200"/>
              <a:buFont typeface="Inter"/>
              <a:buChar char="→"/>
            </a:pPr>
            <a:r>
              <a:rPr lang="pt-BR" sz="1200">
                <a:solidFill>
                  <a:srgbClr val="323232"/>
                </a:solidFill>
                <a:latin typeface="Inter"/>
                <a:ea typeface="Inter"/>
                <a:cs typeface="Inter"/>
                <a:sym typeface="Inter"/>
              </a:rPr>
              <a:t>At vero eos et accusamus et iusto odio dignissimos ducimus qui blanditiis praesentium voluptatum deleniti atque corrupti quos dolores et quas molestias;</a:t>
            </a:r>
            <a:endParaRPr sz="1200">
              <a:solidFill>
                <a:srgbClr val="32323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04800" lvl="0" marL="457200" rtl="0"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6F12FF"/>
              </a:buClr>
              <a:buSzPts val="1200"/>
              <a:buFont typeface="Inter"/>
              <a:buChar char="→"/>
            </a:pPr>
            <a:r>
              <a:rPr lang="pt-BR" sz="1200">
                <a:solidFill>
                  <a:srgbClr val="323232"/>
                </a:solidFill>
                <a:latin typeface="Inter"/>
                <a:ea typeface="Inter"/>
                <a:cs typeface="Inter"/>
                <a:sym typeface="Inter"/>
              </a:rPr>
              <a:t>At vero eos et accusamus et iusto odio dignissimos ducimus qui blanditiis praesentium voluptatum deleniti atque corrupti quos dolores et quas molestias.</a:t>
            </a:r>
            <a:endParaRPr sz="1200">
              <a:solidFill>
                <a:srgbClr val="32323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32323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32323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5" name="Google Shape;165;p26"/>
          <p:cNvSpPr txBox="1"/>
          <p:nvPr/>
        </p:nvSpPr>
        <p:spPr>
          <a:xfrm>
            <a:off x="4655100" y="266600"/>
            <a:ext cx="2602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Manual de cargos funções e rotinas </a:t>
            </a:r>
            <a:r>
              <a:rPr lang="pt-BR" sz="6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/ Descrição de cargos</a:t>
            </a:r>
            <a:endParaRPr sz="600"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66" name="Google Shape;166;p26"/>
          <p:cNvSpPr txBox="1"/>
          <p:nvPr/>
        </p:nvSpPr>
        <p:spPr>
          <a:xfrm>
            <a:off x="694450" y="10204000"/>
            <a:ext cx="2602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latin typeface="Inter Light"/>
                <a:ea typeface="Inter Light"/>
                <a:cs typeface="Inter Light"/>
                <a:sym typeface="Inter Light"/>
              </a:rPr>
              <a:t>Manual de cargos, funções e rotinas / </a:t>
            </a:r>
            <a:r>
              <a:rPr lang="pt-BR" sz="600">
                <a:latin typeface="Inter Light"/>
                <a:ea typeface="Inter Light"/>
                <a:cs typeface="Inter Light"/>
                <a:sym typeface="Inter Light"/>
              </a:rPr>
              <a:t>Nome da empresa</a:t>
            </a:r>
            <a:endParaRPr sz="600">
              <a:latin typeface="Inter Light"/>
              <a:ea typeface="Inter Light"/>
              <a:cs typeface="Inter Light"/>
              <a:sym typeface="Inter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Inter Light"/>
              <a:ea typeface="Inter Light"/>
              <a:cs typeface="Inter Light"/>
              <a:sym typeface="Inter Light"/>
            </a:endParaRPr>
          </a:p>
        </p:txBody>
      </p:sp>
      <p:pic>
        <p:nvPicPr>
          <p:cNvPr id="167" name="Google Shape;167;p26"/>
          <p:cNvPicPr preferRelativeResize="0"/>
          <p:nvPr/>
        </p:nvPicPr>
        <p:blipFill rotWithShape="1">
          <a:blip r:embed="rId3">
            <a:alphaModFix/>
          </a:blip>
          <a:srcRect b="0" l="0" r="49777" t="0"/>
          <a:stretch/>
        </p:blipFill>
        <p:spPr>
          <a:xfrm>
            <a:off x="6871474" y="7819700"/>
            <a:ext cx="1399801" cy="2477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26"/>
          <p:cNvPicPr preferRelativeResize="0"/>
          <p:nvPr/>
        </p:nvPicPr>
        <p:blipFill rotWithShape="1">
          <a:blip r:embed="rId3">
            <a:alphaModFix/>
          </a:blip>
          <a:srcRect b="58075" l="49779" r="0" t="0"/>
          <a:stretch/>
        </p:blipFill>
        <p:spPr>
          <a:xfrm>
            <a:off x="6830625" y="10200776"/>
            <a:ext cx="1399801" cy="1038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26"/>
          <p:cNvPicPr preferRelativeResize="0"/>
          <p:nvPr/>
        </p:nvPicPr>
        <p:blipFill rotWithShape="1">
          <a:blip r:embed="rId4">
            <a:alphaModFix/>
          </a:blip>
          <a:srcRect b="0" l="0" r="68144" t="0"/>
          <a:stretch/>
        </p:blipFill>
        <p:spPr>
          <a:xfrm>
            <a:off x="1773000" y="2648425"/>
            <a:ext cx="167350" cy="21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7"/>
          <p:cNvSpPr txBox="1"/>
          <p:nvPr/>
        </p:nvSpPr>
        <p:spPr>
          <a:xfrm>
            <a:off x="390525" y="10204000"/>
            <a:ext cx="299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600">
                <a:solidFill>
                  <a:srgbClr val="595959"/>
                </a:solidFill>
              </a:rPr>
              <a:t>‹#›</a:t>
            </a:fld>
            <a:endParaRPr sz="600">
              <a:solidFill>
                <a:srgbClr val="595959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75" name="Google Shape;175;p27"/>
          <p:cNvSpPr txBox="1"/>
          <p:nvPr/>
        </p:nvSpPr>
        <p:spPr>
          <a:xfrm>
            <a:off x="4502700" y="114200"/>
            <a:ext cx="2602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Manual de cargos funções e rotinas </a:t>
            </a:r>
            <a:r>
              <a:rPr lang="pt-BR" sz="6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/ Descrição das atividades</a:t>
            </a:r>
            <a:endParaRPr sz="600"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76" name="Google Shape;176;p27"/>
          <p:cNvSpPr txBox="1"/>
          <p:nvPr/>
        </p:nvSpPr>
        <p:spPr>
          <a:xfrm>
            <a:off x="694450" y="10204000"/>
            <a:ext cx="2602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latin typeface="Inter Light"/>
                <a:ea typeface="Inter Light"/>
                <a:cs typeface="Inter Light"/>
                <a:sym typeface="Inter Light"/>
              </a:rPr>
              <a:t>Manual de cargos, funções e rotinas / </a:t>
            </a:r>
            <a:r>
              <a:rPr lang="pt-BR" sz="600">
                <a:latin typeface="Inter Light"/>
                <a:ea typeface="Inter Light"/>
                <a:cs typeface="Inter Light"/>
                <a:sym typeface="Inter Light"/>
              </a:rPr>
              <a:t>Nome da empresa</a:t>
            </a:r>
            <a:endParaRPr sz="600">
              <a:latin typeface="Inter Light"/>
              <a:ea typeface="Inter Light"/>
              <a:cs typeface="Inter Light"/>
              <a:sym typeface="Inter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77" name="Google Shape;177;p27"/>
          <p:cNvSpPr txBox="1"/>
          <p:nvPr/>
        </p:nvSpPr>
        <p:spPr>
          <a:xfrm>
            <a:off x="568463" y="1627925"/>
            <a:ext cx="2342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pt-BR" sz="2200">
                <a:solidFill>
                  <a:srgbClr val="6F12FF"/>
                </a:solidFill>
                <a:latin typeface="Faustina"/>
                <a:ea typeface="Faustina"/>
                <a:cs typeface="Faustina"/>
                <a:sym typeface="Faustina"/>
              </a:rPr>
              <a:t>Rotinas</a:t>
            </a:r>
            <a:endParaRPr b="1" i="1" sz="2200">
              <a:solidFill>
                <a:srgbClr val="6F12FF"/>
              </a:solidFill>
              <a:latin typeface="Faustina"/>
              <a:ea typeface="Faustina"/>
              <a:cs typeface="Faustina"/>
              <a:sym typeface="Faustina"/>
            </a:endParaRPr>
          </a:p>
        </p:txBody>
      </p:sp>
      <p:sp>
        <p:nvSpPr>
          <p:cNvPr id="178" name="Google Shape;178;p27"/>
          <p:cNvSpPr txBox="1"/>
          <p:nvPr/>
        </p:nvSpPr>
        <p:spPr>
          <a:xfrm>
            <a:off x="516575" y="2098575"/>
            <a:ext cx="244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6F12FF"/>
                </a:solidFill>
                <a:latin typeface="Faustina"/>
                <a:ea typeface="Faustina"/>
                <a:cs typeface="Faustina"/>
                <a:sym typeface="Faustina"/>
              </a:rPr>
              <a:t>Diariamente</a:t>
            </a:r>
            <a:endParaRPr>
              <a:solidFill>
                <a:srgbClr val="6F12FF"/>
              </a:solidFill>
              <a:latin typeface="Faustina"/>
              <a:ea typeface="Faustina"/>
              <a:cs typeface="Faustina"/>
              <a:sym typeface="Faustina"/>
            </a:endParaRPr>
          </a:p>
        </p:txBody>
      </p:sp>
      <p:sp>
        <p:nvSpPr>
          <p:cNvPr id="179" name="Google Shape;179;p27"/>
          <p:cNvSpPr txBox="1"/>
          <p:nvPr/>
        </p:nvSpPr>
        <p:spPr>
          <a:xfrm>
            <a:off x="2004250" y="2100150"/>
            <a:ext cx="50445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F12FF"/>
              </a:buClr>
              <a:buSzPts val="1200"/>
              <a:buFont typeface="Inter"/>
              <a:buChar char="●"/>
            </a:pPr>
            <a:r>
              <a:rPr lang="pt-BR" sz="1200">
                <a:solidFill>
                  <a:srgbClr val="323232"/>
                </a:solidFill>
                <a:latin typeface="Inter"/>
                <a:ea typeface="Inter"/>
                <a:cs typeface="Inter"/>
                <a:sym typeface="Inter"/>
              </a:rPr>
              <a:t>At vero eos et accusamus et iusto odio dignissimos ducimus qui blanditiis praesentium voluptatum deleniti atque corrupti quos dolores et quas molestias.</a:t>
            </a:r>
            <a:endParaRPr sz="1200">
              <a:solidFill>
                <a:srgbClr val="32323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0" name="Google Shape;180;p27"/>
          <p:cNvSpPr txBox="1"/>
          <p:nvPr/>
        </p:nvSpPr>
        <p:spPr>
          <a:xfrm>
            <a:off x="526025" y="5346000"/>
            <a:ext cx="2427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6F12FF"/>
                </a:solidFill>
                <a:latin typeface="Faustina"/>
                <a:ea typeface="Faustina"/>
                <a:cs typeface="Faustina"/>
                <a:sym typeface="Faustina"/>
              </a:rPr>
              <a:t>Mensalmente</a:t>
            </a:r>
            <a:endParaRPr>
              <a:solidFill>
                <a:srgbClr val="6F12FF"/>
              </a:solidFill>
              <a:latin typeface="Faustina"/>
              <a:ea typeface="Faustina"/>
              <a:cs typeface="Faustina"/>
              <a:sym typeface="Faustina"/>
            </a:endParaRPr>
          </a:p>
        </p:txBody>
      </p:sp>
      <p:sp>
        <p:nvSpPr>
          <p:cNvPr id="181" name="Google Shape;181;p27"/>
          <p:cNvSpPr txBox="1"/>
          <p:nvPr/>
        </p:nvSpPr>
        <p:spPr>
          <a:xfrm>
            <a:off x="2119465" y="5346008"/>
            <a:ext cx="50445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F12FF"/>
              </a:buClr>
              <a:buSzPts val="1200"/>
              <a:buFont typeface="Inter"/>
              <a:buChar char="●"/>
            </a:pPr>
            <a:r>
              <a:rPr lang="pt-BR" sz="1200">
                <a:solidFill>
                  <a:srgbClr val="323232"/>
                </a:solidFill>
                <a:latin typeface="Inter"/>
                <a:ea typeface="Inter"/>
                <a:cs typeface="Inter"/>
                <a:sym typeface="Inter"/>
              </a:rPr>
              <a:t>At vero eos et accusamus et iusto odio dignissimos ducimus qui blanditiis praesentium voluptatum deleniti atque corrupti quos dolores et quas molestias.</a:t>
            </a:r>
            <a:endParaRPr sz="1200">
              <a:solidFill>
                <a:srgbClr val="32323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2" name="Google Shape;182;p27"/>
          <p:cNvSpPr txBox="1"/>
          <p:nvPr/>
        </p:nvSpPr>
        <p:spPr>
          <a:xfrm>
            <a:off x="526025" y="7115475"/>
            <a:ext cx="2427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6F12FF"/>
                </a:solidFill>
                <a:latin typeface="Faustina"/>
                <a:ea typeface="Faustina"/>
                <a:cs typeface="Faustina"/>
                <a:sym typeface="Faustina"/>
              </a:rPr>
              <a:t>Sob demanda</a:t>
            </a:r>
            <a:endParaRPr>
              <a:solidFill>
                <a:srgbClr val="6F12FF"/>
              </a:solidFill>
              <a:latin typeface="Faustina"/>
              <a:ea typeface="Faustina"/>
              <a:cs typeface="Faustina"/>
              <a:sym typeface="Faustina"/>
            </a:endParaRPr>
          </a:p>
        </p:txBody>
      </p:sp>
      <p:sp>
        <p:nvSpPr>
          <p:cNvPr id="183" name="Google Shape;183;p27"/>
          <p:cNvSpPr txBox="1"/>
          <p:nvPr/>
        </p:nvSpPr>
        <p:spPr>
          <a:xfrm>
            <a:off x="2026540" y="7143550"/>
            <a:ext cx="50445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F12FF"/>
              </a:buClr>
              <a:buSzPts val="1200"/>
              <a:buFont typeface="Inter"/>
              <a:buChar char="●"/>
            </a:pPr>
            <a:r>
              <a:rPr lang="pt-BR" sz="1200">
                <a:solidFill>
                  <a:srgbClr val="323232"/>
                </a:solidFill>
                <a:latin typeface="Inter"/>
                <a:ea typeface="Inter"/>
                <a:cs typeface="Inter"/>
                <a:sym typeface="Inter"/>
              </a:rPr>
              <a:t>At vero eos et accusamus et iusto odio dignissimos ducimus qui blanditiis praesentium voluptatum deleniti atque corrupti quos dolores et quas molestias.</a:t>
            </a:r>
            <a:endParaRPr sz="1200">
              <a:solidFill>
                <a:srgbClr val="32323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4" name="Google Shape;184;p27"/>
          <p:cNvSpPr txBox="1"/>
          <p:nvPr/>
        </p:nvSpPr>
        <p:spPr>
          <a:xfrm>
            <a:off x="516575" y="3576525"/>
            <a:ext cx="2342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6F12FF"/>
                </a:solidFill>
                <a:latin typeface="Faustina"/>
                <a:ea typeface="Faustina"/>
                <a:cs typeface="Faustina"/>
                <a:sym typeface="Faustina"/>
              </a:rPr>
              <a:t>Semanalmente</a:t>
            </a:r>
            <a:endParaRPr>
              <a:solidFill>
                <a:srgbClr val="6F12FF"/>
              </a:solidFill>
              <a:latin typeface="Faustina"/>
              <a:ea typeface="Faustina"/>
              <a:cs typeface="Faustina"/>
              <a:sym typeface="Faustina"/>
            </a:endParaRPr>
          </a:p>
        </p:txBody>
      </p:sp>
      <p:sp>
        <p:nvSpPr>
          <p:cNvPr id="185" name="Google Shape;185;p27"/>
          <p:cNvSpPr txBox="1"/>
          <p:nvPr/>
        </p:nvSpPr>
        <p:spPr>
          <a:xfrm>
            <a:off x="2004240" y="3578772"/>
            <a:ext cx="5044500" cy="10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F12FF"/>
              </a:buClr>
              <a:buSzPts val="1200"/>
              <a:buFont typeface="Inter"/>
              <a:buChar char="●"/>
            </a:pPr>
            <a:r>
              <a:rPr lang="pt-BR" sz="1200">
                <a:solidFill>
                  <a:srgbClr val="323232"/>
                </a:solidFill>
                <a:latin typeface="Inter"/>
                <a:ea typeface="Inter"/>
                <a:cs typeface="Inter"/>
                <a:sym typeface="Inter"/>
              </a:rPr>
              <a:t>At vero eos et accusamus et iusto odio dignissimos ducimus qui blanditiis praesentium voluptatum deleniti atque corrupti quos dolores et quas molestias.</a:t>
            </a:r>
            <a:endParaRPr sz="1200">
              <a:solidFill>
                <a:srgbClr val="32323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2323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6" name="Google Shape;186;p27"/>
          <p:cNvSpPr txBox="1"/>
          <p:nvPr/>
        </p:nvSpPr>
        <p:spPr>
          <a:xfrm>
            <a:off x="568475" y="638175"/>
            <a:ext cx="3402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pt-BR" sz="2400">
                <a:solidFill>
                  <a:srgbClr val="6F12FF"/>
                </a:solidFill>
                <a:latin typeface="Faustina"/>
                <a:ea typeface="Faustina"/>
                <a:cs typeface="Faustina"/>
                <a:sym typeface="Faustina"/>
              </a:rPr>
              <a:t>Descrição das  Atividades</a:t>
            </a:r>
            <a:endParaRPr b="1" i="1" sz="2400">
              <a:solidFill>
                <a:srgbClr val="6F12FF"/>
              </a:solidFill>
              <a:latin typeface="Faustina"/>
              <a:ea typeface="Faustina"/>
              <a:cs typeface="Faustina"/>
              <a:sym typeface="Faustina"/>
            </a:endParaRPr>
          </a:p>
        </p:txBody>
      </p:sp>
      <p:sp>
        <p:nvSpPr>
          <p:cNvPr id="187" name="Google Shape;187;p27"/>
          <p:cNvSpPr/>
          <p:nvPr/>
        </p:nvSpPr>
        <p:spPr>
          <a:xfrm rot="-4627794">
            <a:off x="5098184" y="8163279"/>
            <a:ext cx="4976625" cy="2721526"/>
          </a:xfrm>
          <a:prstGeom prst="rtTriangle">
            <a:avLst/>
          </a:prstGeom>
          <a:solidFill>
            <a:srgbClr val="6F1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8"/>
          <p:cNvSpPr txBox="1"/>
          <p:nvPr/>
        </p:nvSpPr>
        <p:spPr>
          <a:xfrm>
            <a:off x="409575" y="10204000"/>
            <a:ext cx="279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600">
                <a:solidFill>
                  <a:srgbClr val="595959"/>
                </a:solidFill>
              </a:rPr>
              <a:t>‹#›</a:t>
            </a:fld>
            <a:endParaRPr sz="600">
              <a:solidFill>
                <a:srgbClr val="595959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93" name="Google Shape;193;p28"/>
          <p:cNvSpPr txBox="1"/>
          <p:nvPr/>
        </p:nvSpPr>
        <p:spPr>
          <a:xfrm>
            <a:off x="4502700" y="114200"/>
            <a:ext cx="2602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Manual de cargos funções e rotinas </a:t>
            </a:r>
            <a:r>
              <a:rPr lang="pt-BR" sz="6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/ Especificações do cargo</a:t>
            </a:r>
            <a:endParaRPr sz="600"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94" name="Google Shape;194;p28"/>
          <p:cNvSpPr txBox="1"/>
          <p:nvPr/>
        </p:nvSpPr>
        <p:spPr>
          <a:xfrm>
            <a:off x="694450" y="10204000"/>
            <a:ext cx="2602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latin typeface="Inter Light"/>
                <a:ea typeface="Inter Light"/>
                <a:cs typeface="Inter Light"/>
                <a:sym typeface="Inter Light"/>
              </a:rPr>
              <a:t>Manual de cargos, funções e rotinas / </a:t>
            </a:r>
            <a:r>
              <a:rPr lang="pt-BR" sz="600">
                <a:latin typeface="Inter Light"/>
                <a:ea typeface="Inter Light"/>
                <a:cs typeface="Inter Light"/>
                <a:sym typeface="Inter Light"/>
              </a:rPr>
              <a:t>Nome da empresa</a:t>
            </a:r>
            <a:endParaRPr sz="600">
              <a:latin typeface="Inter Light"/>
              <a:ea typeface="Inter Light"/>
              <a:cs typeface="Inter Light"/>
              <a:sym typeface="Inter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95" name="Google Shape;195;p28"/>
          <p:cNvSpPr txBox="1"/>
          <p:nvPr/>
        </p:nvSpPr>
        <p:spPr>
          <a:xfrm>
            <a:off x="2798725" y="2270150"/>
            <a:ext cx="4305000" cy="5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F12FF"/>
              </a:buClr>
              <a:buSzPts val="1200"/>
              <a:buFont typeface="Inter"/>
              <a:buChar char="●"/>
            </a:pPr>
            <a:r>
              <a:rPr lang="pt-BR" sz="1100">
                <a:solidFill>
                  <a:srgbClr val="323232"/>
                </a:solidFill>
                <a:latin typeface="Inter"/>
                <a:ea typeface="Inter"/>
                <a:cs typeface="Inter"/>
                <a:sym typeface="Inter"/>
              </a:rPr>
              <a:t>É a escolaridade básica necessária para cumprir com as funções do cargo adequadamente.</a:t>
            </a:r>
            <a:endParaRPr sz="1100">
              <a:solidFill>
                <a:srgbClr val="32323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6" name="Google Shape;196;p28"/>
          <p:cNvSpPr txBox="1"/>
          <p:nvPr/>
        </p:nvSpPr>
        <p:spPr>
          <a:xfrm>
            <a:off x="533500" y="5728300"/>
            <a:ext cx="2342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200">
              <a:solidFill>
                <a:srgbClr val="6F12FF"/>
              </a:solidFill>
              <a:latin typeface="Faustina"/>
              <a:ea typeface="Faustina"/>
              <a:cs typeface="Faustina"/>
              <a:sym typeface="Faustina"/>
            </a:endParaRPr>
          </a:p>
        </p:txBody>
      </p:sp>
      <p:sp>
        <p:nvSpPr>
          <p:cNvPr id="197" name="Google Shape;197;p28"/>
          <p:cNvSpPr txBox="1"/>
          <p:nvPr/>
        </p:nvSpPr>
        <p:spPr>
          <a:xfrm>
            <a:off x="456263" y="2270150"/>
            <a:ext cx="2342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6F12FF"/>
                </a:solidFill>
                <a:latin typeface="Faustina"/>
                <a:ea typeface="Faustina"/>
                <a:cs typeface="Faustina"/>
                <a:sym typeface="Faustina"/>
              </a:rPr>
              <a:t>Formação acadêmica</a:t>
            </a:r>
            <a:endParaRPr>
              <a:solidFill>
                <a:srgbClr val="6F12FF"/>
              </a:solidFill>
              <a:latin typeface="Faustina"/>
              <a:ea typeface="Faustina"/>
              <a:cs typeface="Faustina"/>
              <a:sym typeface="Faustina"/>
            </a:endParaRPr>
          </a:p>
        </p:txBody>
      </p:sp>
      <p:sp>
        <p:nvSpPr>
          <p:cNvPr id="198" name="Google Shape;198;p28"/>
          <p:cNvSpPr txBox="1"/>
          <p:nvPr/>
        </p:nvSpPr>
        <p:spPr>
          <a:xfrm>
            <a:off x="2798725" y="3448188"/>
            <a:ext cx="4305000" cy="5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F12FF"/>
              </a:buClr>
              <a:buSzPts val="1200"/>
              <a:buFont typeface="Inter"/>
              <a:buChar char="●"/>
            </a:pPr>
            <a:r>
              <a:rPr lang="pt-BR" sz="1100">
                <a:solidFill>
                  <a:srgbClr val="323232"/>
                </a:solidFill>
                <a:latin typeface="Inter"/>
                <a:ea typeface="Inter"/>
                <a:cs typeface="Inter"/>
                <a:sym typeface="Inter"/>
              </a:rPr>
              <a:t>É o tempo mínimo que o colaborador precisa no mercado de trabalho para assumir o cargo.</a:t>
            </a:r>
            <a:endParaRPr sz="1100">
              <a:solidFill>
                <a:srgbClr val="32323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9" name="Google Shape;199;p28"/>
          <p:cNvSpPr txBox="1"/>
          <p:nvPr/>
        </p:nvSpPr>
        <p:spPr>
          <a:xfrm>
            <a:off x="456263" y="3448188"/>
            <a:ext cx="2342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6F12FF"/>
                </a:solidFill>
                <a:latin typeface="Faustina"/>
                <a:ea typeface="Faustina"/>
                <a:cs typeface="Faustina"/>
                <a:sym typeface="Faustina"/>
              </a:rPr>
              <a:t>Experiência profissional</a:t>
            </a:r>
            <a:endParaRPr>
              <a:solidFill>
                <a:srgbClr val="6F12FF"/>
              </a:solidFill>
              <a:latin typeface="Faustina"/>
              <a:ea typeface="Faustina"/>
              <a:cs typeface="Faustina"/>
              <a:sym typeface="Faustina"/>
            </a:endParaRPr>
          </a:p>
        </p:txBody>
      </p:sp>
      <p:sp>
        <p:nvSpPr>
          <p:cNvPr id="200" name="Google Shape;200;p28"/>
          <p:cNvSpPr txBox="1"/>
          <p:nvPr/>
        </p:nvSpPr>
        <p:spPr>
          <a:xfrm>
            <a:off x="2798725" y="4694800"/>
            <a:ext cx="4305000" cy="7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F12FF"/>
              </a:buClr>
              <a:buSzPts val="1200"/>
              <a:buFont typeface="Inter"/>
              <a:buChar char="●"/>
            </a:pPr>
            <a:r>
              <a:rPr lang="pt-BR" sz="1100">
                <a:solidFill>
                  <a:srgbClr val="323232"/>
                </a:solidFill>
                <a:latin typeface="Inter"/>
                <a:ea typeface="Inter"/>
                <a:cs typeface="Inter"/>
                <a:sym typeface="Inter"/>
              </a:rPr>
              <a:t>São os atributos interpessoais que o funcionário deve ter para realizar bem as suas funções; conhecidas como soft skills.</a:t>
            </a:r>
            <a:endParaRPr sz="1100">
              <a:solidFill>
                <a:srgbClr val="32323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1" name="Google Shape;201;p28"/>
          <p:cNvSpPr txBox="1"/>
          <p:nvPr/>
        </p:nvSpPr>
        <p:spPr>
          <a:xfrm>
            <a:off x="456263" y="4694800"/>
            <a:ext cx="2342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6F12FF"/>
                </a:solidFill>
                <a:latin typeface="Faustina"/>
                <a:ea typeface="Faustina"/>
                <a:cs typeface="Faustina"/>
                <a:sym typeface="Faustina"/>
              </a:rPr>
              <a:t>Habilidades</a:t>
            </a:r>
            <a:endParaRPr>
              <a:solidFill>
                <a:srgbClr val="6F12FF"/>
              </a:solidFill>
              <a:latin typeface="Faustina"/>
              <a:ea typeface="Faustina"/>
              <a:cs typeface="Faustina"/>
              <a:sym typeface="Faustina"/>
            </a:endParaRPr>
          </a:p>
        </p:txBody>
      </p:sp>
      <p:sp>
        <p:nvSpPr>
          <p:cNvPr id="202" name="Google Shape;202;p28"/>
          <p:cNvSpPr txBox="1"/>
          <p:nvPr/>
        </p:nvSpPr>
        <p:spPr>
          <a:xfrm>
            <a:off x="2798725" y="5728313"/>
            <a:ext cx="4305000" cy="7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F12FF"/>
              </a:buClr>
              <a:buSzPts val="1200"/>
              <a:buFont typeface="Inter"/>
              <a:buChar char="●"/>
            </a:pPr>
            <a:r>
              <a:rPr lang="pt-BR" sz="1100">
                <a:solidFill>
                  <a:srgbClr val="323232"/>
                </a:solidFill>
                <a:latin typeface="Inter"/>
                <a:ea typeface="Inter"/>
                <a:cs typeface="Inter"/>
                <a:sym typeface="Inter"/>
              </a:rPr>
              <a:t>São os conhecimentos técnicos que o colaborador deve ter para assumir o cargo; conhecidas como hard skills.</a:t>
            </a:r>
            <a:endParaRPr sz="1100">
              <a:solidFill>
                <a:srgbClr val="32323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3" name="Google Shape;203;p28"/>
          <p:cNvSpPr txBox="1"/>
          <p:nvPr/>
        </p:nvSpPr>
        <p:spPr>
          <a:xfrm>
            <a:off x="456263" y="5728313"/>
            <a:ext cx="2342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6F12FF"/>
                </a:solidFill>
                <a:latin typeface="Faustina"/>
                <a:ea typeface="Faustina"/>
                <a:cs typeface="Faustina"/>
                <a:sym typeface="Faustina"/>
              </a:rPr>
              <a:t>Competências</a:t>
            </a:r>
            <a:endParaRPr>
              <a:solidFill>
                <a:srgbClr val="6F12FF"/>
              </a:solidFill>
              <a:latin typeface="Faustina"/>
              <a:ea typeface="Faustina"/>
              <a:cs typeface="Faustina"/>
              <a:sym typeface="Faustina"/>
            </a:endParaRPr>
          </a:p>
        </p:txBody>
      </p:sp>
      <p:sp>
        <p:nvSpPr>
          <p:cNvPr id="204" name="Google Shape;204;p28"/>
          <p:cNvSpPr txBox="1"/>
          <p:nvPr/>
        </p:nvSpPr>
        <p:spPr>
          <a:xfrm>
            <a:off x="456275" y="638175"/>
            <a:ext cx="3402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pt-BR" sz="2400">
                <a:solidFill>
                  <a:srgbClr val="6F12FF"/>
                </a:solidFill>
                <a:latin typeface="Faustina"/>
                <a:ea typeface="Faustina"/>
                <a:cs typeface="Faustina"/>
                <a:sym typeface="Faustina"/>
              </a:rPr>
              <a:t>Especificações do Cargo</a:t>
            </a:r>
            <a:endParaRPr b="1" i="1" sz="2400">
              <a:solidFill>
                <a:srgbClr val="6F12FF"/>
              </a:solidFill>
              <a:latin typeface="Faustina"/>
              <a:ea typeface="Faustina"/>
              <a:cs typeface="Faustina"/>
              <a:sym typeface="Faustina"/>
            </a:endParaRPr>
          </a:p>
        </p:txBody>
      </p:sp>
      <p:sp>
        <p:nvSpPr>
          <p:cNvPr id="205" name="Google Shape;205;p28"/>
          <p:cNvSpPr/>
          <p:nvPr/>
        </p:nvSpPr>
        <p:spPr>
          <a:xfrm rot="-4627794">
            <a:off x="5098184" y="8163279"/>
            <a:ext cx="4976625" cy="2721526"/>
          </a:xfrm>
          <a:prstGeom prst="rtTriangle">
            <a:avLst/>
          </a:prstGeom>
          <a:solidFill>
            <a:srgbClr val="6F1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28"/>
          <p:cNvSpPr txBox="1"/>
          <p:nvPr/>
        </p:nvSpPr>
        <p:spPr>
          <a:xfrm>
            <a:off x="456281" y="1441125"/>
            <a:ext cx="3515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pt-BR" sz="2200">
                <a:solidFill>
                  <a:srgbClr val="6F12FF"/>
                </a:solidFill>
                <a:latin typeface="Faustina"/>
                <a:ea typeface="Faustina"/>
                <a:cs typeface="Faustina"/>
                <a:sym typeface="Faustina"/>
              </a:rPr>
              <a:t>Habilidades e Competências</a:t>
            </a:r>
            <a:endParaRPr b="1" i="1" sz="2200">
              <a:solidFill>
                <a:srgbClr val="6F12FF"/>
              </a:solidFill>
              <a:latin typeface="Faustina"/>
              <a:ea typeface="Faustina"/>
              <a:cs typeface="Faustina"/>
              <a:sym typeface="Faustin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9"/>
          <p:cNvSpPr txBox="1"/>
          <p:nvPr/>
        </p:nvSpPr>
        <p:spPr>
          <a:xfrm>
            <a:off x="409575" y="10204000"/>
            <a:ext cx="279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600">
                <a:solidFill>
                  <a:srgbClr val="595959"/>
                </a:solidFill>
              </a:rPr>
              <a:t>‹#›</a:t>
            </a:fld>
            <a:endParaRPr sz="600">
              <a:solidFill>
                <a:srgbClr val="595959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212" name="Google Shape;212;p29"/>
          <p:cNvSpPr txBox="1"/>
          <p:nvPr/>
        </p:nvSpPr>
        <p:spPr>
          <a:xfrm>
            <a:off x="4502700" y="114200"/>
            <a:ext cx="2602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Manual de cargos funções e rotinas </a:t>
            </a:r>
            <a:r>
              <a:rPr lang="pt-BR" sz="6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/ Especificações do cargo</a:t>
            </a:r>
            <a:endParaRPr sz="600"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213" name="Google Shape;213;p29"/>
          <p:cNvSpPr txBox="1"/>
          <p:nvPr/>
        </p:nvSpPr>
        <p:spPr>
          <a:xfrm>
            <a:off x="694450" y="10204000"/>
            <a:ext cx="2602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latin typeface="Inter Light"/>
                <a:ea typeface="Inter Light"/>
                <a:cs typeface="Inter Light"/>
                <a:sym typeface="Inter Light"/>
              </a:rPr>
              <a:t>Manual de cargos, funções e rotinas / Nome da empresa</a:t>
            </a:r>
            <a:endParaRPr sz="600">
              <a:latin typeface="Inter Light"/>
              <a:ea typeface="Inter Light"/>
              <a:cs typeface="Inter Light"/>
              <a:sym typeface="Inter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214" name="Google Shape;214;p29"/>
          <p:cNvSpPr txBox="1"/>
          <p:nvPr/>
        </p:nvSpPr>
        <p:spPr>
          <a:xfrm>
            <a:off x="533500" y="5147325"/>
            <a:ext cx="2342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200">
              <a:solidFill>
                <a:srgbClr val="6F12FF"/>
              </a:solidFill>
              <a:latin typeface="Faustina"/>
              <a:ea typeface="Faustina"/>
              <a:cs typeface="Faustina"/>
              <a:sym typeface="Faustina"/>
            </a:endParaRPr>
          </a:p>
        </p:txBody>
      </p:sp>
      <p:sp>
        <p:nvSpPr>
          <p:cNvPr id="215" name="Google Shape;215;p29"/>
          <p:cNvSpPr txBox="1"/>
          <p:nvPr/>
        </p:nvSpPr>
        <p:spPr>
          <a:xfrm>
            <a:off x="2798725" y="2380475"/>
            <a:ext cx="4305000" cy="5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F12FF"/>
              </a:buClr>
              <a:buSzPts val="1200"/>
              <a:buFont typeface="Inter"/>
              <a:buChar char="●"/>
            </a:pPr>
            <a:r>
              <a:rPr lang="pt-BR" sz="1100">
                <a:solidFill>
                  <a:srgbClr val="323232"/>
                </a:solidFill>
                <a:latin typeface="Inter"/>
                <a:ea typeface="Inter"/>
                <a:cs typeface="Inter"/>
                <a:sym typeface="Inter"/>
              </a:rPr>
              <a:t>São as áreas e/ou cargos em que o colaborador possui mais contato na empresa.</a:t>
            </a:r>
            <a:endParaRPr sz="1100">
              <a:solidFill>
                <a:srgbClr val="32323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6" name="Google Shape;216;p29"/>
          <p:cNvSpPr txBox="1"/>
          <p:nvPr/>
        </p:nvSpPr>
        <p:spPr>
          <a:xfrm>
            <a:off x="456263" y="2380475"/>
            <a:ext cx="2342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6F12FF"/>
                </a:solidFill>
                <a:latin typeface="Faustina"/>
                <a:ea typeface="Faustina"/>
                <a:cs typeface="Faustina"/>
                <a:sym typeface="Faustina"/>
              </a:rPr>
              <a:t>Relacionamentos</a:t>
            </a:r>
            <a:endParaRPr>
              <a:solidFill>
                <a:srgbClr val="6F12FF"/>
              </a:solidFill>
              <a:latin typeface="Faustina"/>
              <a:ea typeface="Faustina"/>
              <a:cs typeface="Faustina"/>
              <a:sym typeface="Faustina"/>
            </a:endParaRPr>
          </a:p>
        </p:txBody>
      </p:sp>
      <p:sp>
        <p:nvSpPr>
          <p:cNvPr id="217" name="Google Shape;217;p29"/>
          <p:cNvSpPr txBox="1"/>
          <p:nvPr/>
        </p:nvSpPr>
        <p:spPr>
          <a:xfrm>
            <a:off x="2798725" y="3594975"/>
            <a:ext cx="4305000" cy="5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F12FF"/>
              </a:buClr>
              <a:buSzPts val="1200"/>
              <a:buFont typeface="Inter"/>
              <a:buChar char="●"/>
            </a:pPr>
            <a:r>
              <a:rPr lang="pt-BR" sz="1100">
                <a:solidFill>
                  <a:srgbClr val="323232"/>
                </a:solidFill>
                <a:latin typeface="Inter"/>
                <a:ea typeface="Inter"/>
                <a:cs typeface="Inter"/>
                <a:sym typeface="Inter"/>
              </a:rPr>
              <a:t>São as decisões que o colaborador pode tomar sem o aval de superiores.</a:t>
            </a:r>
            <a:endParaRPr sz="1100">
              <a:solidFill>
                <a:srgbClr val="32323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8" name="Google Shape;218;p29"/>
          <p:cNvSpPr txBox="1"/>
          <p:nvPr/>
        </p:nvSpPr>
        <p:spPr>
          <a:xfrm>
            <a:off x="456263" y="3594975"/>
            <a:ext cx="2342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6F12FF"/>
                </a:solidFill>
                <a:latin typeface="Faustina"/>
                <a:ea typeface="Faustina"/>
                <a:cs typeface="Faustina"/>
                <a:sym typeface="Faustina"/>
              </a:rPr>
              <a:t>Autonomia</a:t>
            </a:r>
            <a:endParaRPr>
              <a:solidFill>
                <a:srgbClr val="6F12FF"/>
              </a:solidFill>
              <a:latin typeface="Faustina"/>
              <a:ea typeface="Faustina"/>
              <a:cs typeface="Faustina"/>
              <a:sym typeface="Faustina"/>
            </a:endParaRPr>
          </a:p>
        </p:txBody>
      </p:sp>
      <p:sp>
        <p:nvSpPr>
          <p:cNvPr id="219" name="Google Shape;219;p29"/>
          <p:cNvSpPr txBox="1"/>
          <p:nvPr/>
        </p:nvSpPr>
        <p:spPr>
          <a:xfrm>
            <a:off x="2798725" y="4809475"/>
            <a:ext cx="4305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F12FF"/>
              </a:buClr>
              <a:buSzPts val="1200"/>
              <a:buFont typeface="Inter"/>
              <a:buChar char="●"/>
            </a:pPr>
            <a:r>
              <a:rPr lang="pt-BR" sz="1100">
                <a:solidFill>
                  <a:srgbClr val="323232"/>
                </a:solidFill>
                <a:latin typeface="Inter"/>
                <a:ea typeface="Inter"/>
                <a:cs typeface="Inter"/>
                <a:sym typeface="Inter"/>
              </a:rPr>
              <a:t>São os cargos/equipes que respondem ao colaborador.</a:t>
            </a:r>
            <a:endParaRPr sz="1100">
              <a:solidFill>
                <a:srgbClr val="32323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0" name="Google Shape;220;p29"/>
          <p:cNvSpPr txBox="1"/>
          <p:nvPr/>
        </p:nvSpPr>
        <p:spPr>
          <a:xfrm>
            <a:off x="456263" y="4809475"/>
            <a:ext cx="2342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6F12FF"/>
                </a:solidFill>
                <a:latin typeface="Faustina"/>
                <a:ea typeface="Faustina"/>
                <a:cs typeface="Faustina"/>
                <a:sym typeface="Faustina"/>
              </a:rPr>
              <a:t>Supervisão exercida</a:t>
            </a:r>
            <a:endParaRPr>
              <a:solidFill>
                <a:srgbClr val="6F12FF"/>
              </a:solidFill>
              <a:latin typeface="Faustina"/>
              <a:ea typeface="Faustina"/>
              <a:cs typeface="Faustina"/>
              <a:sym typeface="Faustina"/>
            </a:endParaRPr>
          </a:p>
        </p:txBody>
      </p:sp>
      <p:sp>
        <p:nvSpPr>
          <p:cNvPr id="221" name="Google Shape;221;p29"/>
          <p:cNvSpPr txBox="1"/>
          <p:nvPr/>
        </p:nvSpPr>
        <p:spPr>
          <a:xfrm>
            <a:off x="465975" y="638175"/>
            <a:ext cx="3402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pt-BR" sz="2400">
                <a:solidFill>
                  <a:srgbClr val="6F12FF"/>
                </a:solidFill>
                <a:latin typeface="Faustina"/>
                <a:ea typeface="Faustina"/>
                <a:cs typeface="Faustina"/>
                <a:sym typeface="Faustina"/>
              </a:rPr>
              <a:t>Especificações do Cargo</a:t>
            </a:r>
            <a:endParaRPr b="1" i="1" sz="2400">
              <a:solidFill>
                <a:srgbClr val="6F12FF"/>
              </a:solidFill>
              <a:latin typeface="Faustina"/>
              <a:ea typeface="Faustina"/>
              <a:cs typeface="Faustina"/>
              <a:sym typeface="Faustina"/>
            </a:endParaRPr>
          </a:p>
        </p:txBody>
      </p:sp>
      <p:sp>
        <p:nvSpPr>
          <p:cNvPr id="222" name="Google Shape;222;p29"/>
          <p:cNvSpPr/>
          <p:nvPr/>
        </p:nvSpPr>
        <p:spPr>
          <a:xfrm rot="-4627794">
            <a:off x="5098184" y="8163279"/>
            <a:ext cx="4976625" cy="2721526"/>
          </a:xfrm>
          <a:prstGeom prst="rtTriangle">
            <a:avLst/>
          </a:prstGeom>
          <a:solidFill>
            <a:srgbClr val="6F1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29"/>
          <p:cNvSpPr txBox="1"/>
          <p:nvPr/>
        </p:nvSpPr>
        <p:spPr>
          <a:xfrm>
            <a:off x="409581" y="1524775"/>
            <a:ext cx="3515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pt-BR" sz="2200">
                <a:solidFill>
                  <a:srgbClr val="6F12FF"/>
                </a:solidFill>
                <a:latin typeface="Faustina"/>
                <a:ea typeface="Faustina"/>
                <a:cs typeface="Faustina"/>
                <a:sym typeface="Faustina"/>
              </a:rPr>
              <a:t>Relações Internas</a:t>
            </a:r>
            <a:endParaRPr b="1" i="1" sz="2200">
              <a:solidFill>
                <a:srgbClr val="6F12FF"/>
              </a:solidFill>
              <a:latin typeface="Faustina"/>
              <a:ea typeface="Faustina"/>
              <a:cs typeface="Faustina"/>
              <a:sym typeface="Faustina"/>
            </a:endParaRPr>
          </a:p>
        </p:txBody>
      </p:sp>
      <p:sp>
        <p:nvSpPr>
          <p:cNvPr id="224" name="Google Shape;224;p29"/>
          <p:cNvSpPr txBox="1"/>
          <p:nvPr/>
        </p:nvSpPr>
        <p:spPr>
          <a:xfrm>
            <a:off x="456263" y="5925875"/>
            <a:ext cx="2342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6F12FF"/>
                </a:solidFill>
                <a:latin typeface="Faustina"/>
                <a:ea typeface="Faustina"/>
                <a:cs typeface="Faustina"/>
                <a:sym typeface="Faustina"/>
              </a:rPr>
              <a:t>Processos</a:t>
            </a:r>
            <a:endParaRPr>
              <a:solidFill>
                <a:srgbClr val="6F12FF"/>
              </a:solidFill>
              <a:latin typeface="Faustina"/>
              <a:ea typeface="Faustina"/>
              <a:cs typeface="Faustina"/>
              <a:sym typeface="Faustina"/>
            </a:endParaRPr>
          </a:p>
        </p:txBody>
      </p:sp>
      <p:sp>
        <p:nvSpPr>
          <p:cNvPr id="225" name="Google Shape;225;p29"/>
          <p:cNvSpPr txBox="1"/>
          <p:nvPr/>
        </p:nvSpPr>
        <p:spPr>
          <a:xfrm>
            <a:off x="2798725" y="5941325"/>
            <a:ext cx="4305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F12FF"/>
              </a:buClr>
              <a:buSzPts val="1200"/>
              <a:buFont typeface="Inter"/>
              <a:buChar char="●"/>
            </a:pPr>
            <a:r>
              <a:rPr lang="pt-BR" sz="1100">
                <a:solidFill>
                  <a:srgbClr val="323232"/>
                </a:solidFill>
                <a:latin typeface="Inter"/>
                <a:ea typeface="Inter"/>
                <a:cs typeface="Inter"/>
                <a:sym typeface="Inter"/>
              </a:rPr>
              <a:t>São os processos que o colaborador desempenha.</a:t>
            </a:r>
            <a:endParaRPr sz="1100">
              <a:solidFill>
                <a:srgbClr val="323232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0"/>
          <p:cNvSpPr txBox="1"/>
          <p:nvPr/>
        </p:nvSpPr>
        <p:spPr>
          <a:xfrm>
            <a:off x="1092000" y="8747125"/>
            <a:ext cx="2622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pt-BR" sz="3200">
                <a:solidFill>
                  <a:srgbClr val="6F12FF"/>
                </a:solidFill>
                <a:latin typeface="Faustina"/>
                <a:ea typeface="Faustina"/>
                <a:cs typeface="Faustina"/>
                <a:sym typeface="Faustina"/>
              </a:rPr>
              <a:t>Cargo</a:t>
            </a:r>
            <a:endParaRPr b="1" i="1" sz="3200">
              <a:solidFill>
                <a:srgbClr val="6F12FF"/>
              </a:solidFill>
              <a:latin typeface="Faustina"/>
              <a:ea typeface="Faustina"/>
              <a:cs typeface="Faustina"/>
              <a:sym typeface="Faustina"/>
            </a:endParaRPr>
          </a:p>
        </p:txBody>
      </p:sp>
      <p:sp>
        <p:nvSpPr>
          <p:cNvPr id="231" name="Google Shape;231;p30"/>
          <p:cNvSpPr txBox="1"/>
          <p:nvPr/>
        </p:nvSpPr>
        <p:spPr>
          <a:xfrm>
            <a:off x="457200" y="8664775"/>
            <a:ext cx="6348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pt-BR" sz="4500">
                <a:solidFill>
                  <a:srgbClr val="6F12FF"/>
                </a:solidFill>
                <a:latin typeface="Faustina"/>
                <a:ea typeface="Faustina"/>
                <a:cs typeface="Faustina"/>
                <a:sym typeface="Faustina"/>
              </a:rPr>
              <a:t>4</a:t>
            </a:r>
            <a:r>
              <a:rPr b="1" i="1" lang="pt-BR" sz="4500">
                <a:solidFill>
                  <a:srgbClr val="6F12FF"/>
                </a:solidFill>
                <a:latin typeface="Faustina"/>
                <a:ea typeface="Faustina"/>
                <a:cs typeface="Faustina"/>
                <a:sym typeface="Faustina"/>
              </a:rPr>
              <a:t>.</a:t>
            </a:r>
            <a:endParaRPr b="1" i="1" sz="4500">
              <a:solidFill>
                <a:srgbClr val="6F12FF"/>
              </a:solidFill>
              <a:latin typeface="Faustina"/>
              <a:ea typeface="Faustina"/>
              <a:cs typeface="Faustina"/>
              <a:sym typeface="Faustina"/>
            </a:endParaRPr>
          </a:p>
        </p:txBody>
      </p:sp>
      <p:pic>
        <p:nvPicPr>
          <p:cNvPr id="232" name="Google Shape;232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55050" y="-363600"/>
            <a:ext cx="2772800" cy="289756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3" name="Google Shape;233;p30"/>
          <p:cNvGrpSpPr/>
          <p:nvPr/>
        </p:nvGrpSpPr>
        <p:grpSpPr>
          <a:xfrm>
            <a:off x="3596042" y="8305685"/>
            <a:ext cx="4758139" cy="1797788"/>
            <a:chOff x="1998387" y="6125905"/>
            <a:chExt cx="4982345" cy="1882500"/>
          </a:xfrm>
        </p:grpSpPr>
        <p:sp>
          <p:nvSpPr>
            <p:cNvPr id="234" name="Google Shape;234;p30"/>
            <p:cNvSpPr/>
            <p:nvPr/>
          </p:nvSpPr>
          <p:spPr>
            <a:xfrm rot="-8100000">
              <a:off x="2271481" y="6416699"/>
              <a:ext cx="1318613" cy="1318613"/>
            </a:xfrm>
            <a:prstGeom prst="corner">
              <a:avLst>
                <a:gd fmla="val 50000" name="adj1"/>
                <a:gd fmla="val 50000" name="adj2"/>
              </a:avLst>
            </a:prstGeom>
            <a:solidFill>
              <a:srgbClr val="6F12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30"/>
            <p:cNvSpPr/>
            <p:nvPr/>
          </p:nvSpPr>
          <p:spPr>
            <a:xfrm rot="-8100000">
              <a:off x="3830246" y="6398999"/>
              <a:ext cx="1318613" cy="1318613"/>
            </a:xfrm>
            <a:prstGeom prst="corner">
              <a:avLst>
                <a:gd fmla="val 50000" name="adj1"/>
                <a:gd fmla="val 50000" name="adj2"/>
              </a:avLst>
            </a:prstGeom>
            <a:solidFill>
              <a:srgbClr val="6F12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30"/>
            <p:cNvSpPr/>
            <p:nvPr/>
          </p:nvSpPr>
          <p:spPr>
            <a:xfrm rot="-8100000">
              <a:off x="5389025" y="6398999"/>
              <a:ext cx="1318613" cy="1318613"/>
            </a:xfrm>
            <a:prstGeom prst="corner">
              <a:avLst>
                <a:gd fmla="val 50000" name="adj1"/>
                <a:gd fmla="val 50000" name="adj2"/>
              </a:avLst>
            </a:prstGeom>
            <a:solidFill>
              <a:srgbClr val="6F12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1"/>
          <p:cNvSpPr txBox="1"/>
          <p:nvPr/>
        </p:nvSpPr>
        <p:spPr>
          <a:xfrm>
            <a:off x="2394000" y="5540649"/>
            <a:ext cx="2772000" cy="10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e-mail@grupogestao.co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FFFFFF"/>
              </a:solidFill>
              <a:highlight>
                <a:schemeClr val="dk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42" name="Google Shape;242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75224" y="3527825"/>
            <a:ext cx="3009551" cy="2104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